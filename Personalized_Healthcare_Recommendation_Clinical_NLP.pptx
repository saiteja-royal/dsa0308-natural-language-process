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6" r:id="rId1"/>
  </p:sldMasterIdLst>
  <p:sldIdLst>
    <p:sldId id="272" r:id="rId2"/>
    <p:sldId id="258" r:id="rId3"/>
    <p:sldId id="278" r:id="rId4"/>
    <p:sldId id="259" r:id="rId5"/>
    <p:sldId id="260" r:id="rId6"/>
    <p:sldId id="286" r:id="rId7"/>
    <p:sldId id="280" r:id="rId8"/>
    <p:sldId id="283" r:id="rId9"/>
    <p:sldId id="279" r:id="rId10"/>
    <p:sldId id="281" r:id="rId11"/>
    <p:sldId id="282" r:id="rId12"/>
    <p:sldId id="284" r:id="rId13"/>
    <p:sldId id="265" r:id="rId14"/>
    <p:sldId id="267" r:id="rId15"/>
    <p:sldId id="268" r:id="rId16"/>
    <p:sldId id="269" r:id="rId17"/>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varScale="1">
        <p:scale>
          <a:sx n="84" d="100"/>
          <a:sy n="84" d="100"/>
        </p:scale>
        <p:origin x="629"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A6E0F-F8E5-CECA-B906-636A340077C4}"/>
              </a:ext>
            </a:extLst>
          </p:cNvPr>
          <p:cNvSpPr>
            <a:spLocks noGrp="1"/>
          </p:cNvSpPr>
          <p:nvPr>
            <p:ph type="ctrTitle"/>
          </p:nvPr>
        </p:nvSpPr>
        <p:spPr>
          <a:xfrm>
            <a:off x="1523603" y="1122363"/>
            <a:ext cx="9141619" cy="2387600"/>
          </a:xfrm>
        </p:spPr>
        <p:txBody>
          <a:bodyPr anchor="b"/>
          <a:lstStyle>
            <a:lvl1pPr algn="ctr">
              <a:defRPr sz="5998"/>
            </a:lvl1pPr>
          </a:lstStyle>
          <a:p>
            <a:r>
              <a:rPr lang="en-US"/>
              <a:t>Click to edit Master title style</a:t>
            </a:r>
            <a:endParaRPr lang="en-IN"/>
          </a:p>
        </p:txBody>
      </p:sp>
      <p:sp>
        <p:nvSpPr>
          <p:cNvPr id="3" name="Subtitle 2">
            <a:extLst>
              <a:ext uri="{FF2B5EF4-FFF2-40B4-BE49-F238E27FC236}">
                <a16:creationId xmlns:a16="http://schemas.microsoft.com/office/drawing/2014/main" id="{55569B2B-6E99-92B5-1FAE-88291FB3A0F9}"/>
              </a:ext>
            </a:extLst>
          </p:cNvPr>
          <p:cNvSpPr>
            <a:spLocks noGrp="1"/>
          </p:cNvSpPr>
          <p:nvPr>
            <p:ph type="subTitle" idx="1"/>
          </p:nvPr>
        </p:nvSpPr>
        <p:spPr>
          <a:xfrm>
            <a:off x="1523603" y="3602038"/>
            <a:ext cx="9141619" cy="1655762"/>
          </a:xfrm>
        </p:spPr>
        <p:txBody>
          <a:bodyPr/>
          <a:lstStyle>
            <a:lvl1pPr marL="0" indent="0" algn="ctr">
              <a:buNone/>
              <a:defRPr sz="2399"/>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02BDFAB-E1D0-B639-E228-ECCF77D749A6}"/>
              </a:ext>
            </a:extLst>
          </p:cNvPr>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a:extLst>
              <a:ext uri="{FF2B5EF4-FFF2-40B4-BE49-F238E27FC236}">
                <a16:creationId xmlns:a16="http://schemas.microsoft.com/office/drawing/2014/main" id="{9781E227-3C9B-5360-7B3E-B36A8A81A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7E4B52-5098-8AE8-FB87-10CE434DE22A}"/>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34960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B505E-BBE4-2D14-4C66-9E148E449DB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AF3F9E-AEE7-1927-E379-C644568A17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E8FF45-92CB-0A11-AC68-5B6A6F7C2CA2}"/>
              </a:ext>
            </a:extLst>
          </p:cNvPr>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a:extLst>
              <a:ext uri="{FF2B5EF4-FFF2-40B4-BE49-F238E27FC236}">
                <a16:creationId xmlns:a16="http://schemas.microsoft.com/office/drawing/2014/main" id="{2E57E19B-0AF4-CBFD-5771-19DC3A7F15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88E074-A78F-8610-6BA9-DA3A377D4CF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42628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5425D-4BCC-05E2-F732-509AF40A7104}"/>
              </a:ext>
            </a:extLst>
          </p:cNvPr>
          <p:cNvSpPr>
            <a:spLocks noGrp="1"/>
          </p:cNvSpPr>
          <p:nvPr>
            <p:ph type="title"/>
          </p:nvPr>
        </p:nvSpPr>
        <p:spPr>
          <a:xfrm>
            <a:off x="831633" y="1709739"/>
            <a:ext cx="10512862" cy="2852737"/>
          </a:xfrm>
        </p:spPr>
        <p:txBody>
          <a:bodyPr anchor="b"/>
          <a:lstStyle>
            <a:lvl1pPr>
              <a:defRPr sz="5998"/>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208BBE6-EBB9-4BCF-1479-F9A66DAD059A}"/>
              </a:ext>
            </a:extLst>
          </p:cNvPr>
          <p:cNvSpPr>
            <a:spLocks noGrp="1"/>
          </p:cNvSpPr>
          <p:nvPr>
            <p:ph type="body" idx="1"/>
          </p:nvPr>
        </p:nvSpPr>
        <p:spPr>
          <a:xfrm>
            <a:off x="831633" y="4589464"/>
            <a:ext cx="10512862" cy="1500187"/>
          </a:xfrm>
        </p:spPr>
        <p:txBody>
          <a:bodyPr/>
          <a:lstStyle>
            <a:lvl1pPr marL="0" indent="0">
              <a:buNone/>
              <a:defRPr sz="2399">
                <a:solidFill>
                  <a:schemeClr val="tx1">
                    <a:tint val="75000"/>
                  </a:schemeClr>
                </a:solidFill>
              </a:defRPr>
            </a:lvl1pPr>
            <a:lvl2pPr marL="457063" indent="0">
              <a:buNone/>
              <a:defRPr sz="1999">
                <a:solidFill>
                  <a:schemeClr val="tx1">
                    <a:tint val="75000"/>
                  </a:schemeClr>
                </a:solidFill>
              </a:defRPr>
            </a:lvl2pPr>
            <a:lvl3pPr marL="914126" indent="0">
              <a:buNone/>
              <a:defRPr sz="1799">
                <a:solidFill>
                  <a:schemeClr val="tx1">
                    <a:tint val="75000"/>
                  </a:schemeClr>
                </a:solidFill>
              </a:defRPr>
            </a:lvl3pPr>
            <a:lvl4pPr marL="1371189" indent="0">
              <a:buNone/>
              <a:defRPr sz="1600">
                <a:solidFill>
                  <a:schemeClr val="tx1">
                    <a:tint val="75000"/>
                  </a:schemeClr>
                </a:solidFill>
              </a:defRPr>
            </a:lvl4pPr>
            <a:lvl5pPr marL="1828251" indent="0">
              <a:buNone/>
              <a:defRPr sz="1600">
                <a:solidFill>
                  <a:schemeClr val="tx1">
                    <a:tint val="75000"/>
                  </a:schemeClr>
                </a:solidFill>
              </a:defRPr>
            </a:lvl5pPr>
            <a:lvl6pPr marL="2285314" indent="0">
              <a:buNone/>
              <a:defRPr sz="1600">
                <a:solidFill>
                  <a:schemeClr val="tx1">
                    <a:tint val="75000"/>
                  </a:schemeClr>
                </a:solidFill>
              </a:defRPr>
            </a:lvl6pPr>
            <a:lvl7pPr marL="2742377" indent="0">
              <a:buNone/>
              <a:defRPr sz="1600">
                <a:solidFill>
                  <a:schemeClr val="tx1">
                    <a:tint val="75000"/>
                  </a:schemeClr>
                </a:solidFill>
              </a:defRPr>
            </a:lvl7pPr>
            <a:lvl8pPr marL="3199440" indent="0">
              <a:buNone/>
              <a:defRPr sz="1600">
                <a:solidFill>
                  <a:schemeClr val="tx1">
                    <a:tint val="75000"/>
                  </a:schemeClr>
                </a:solidFill>
              </a:defRPr>
            </a:lvl8pPr>
            <a:lvl9pPr marL="3656503"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60E963-5977-A02F-00AF-D789E7E9268F}"/>
              </a:ext>
            </a:extLst>
          </p:cNvPr>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a:extLst>
              <a:ext uri="{FF2B5EF4-FFF2-40B4-BE49-F238E27FC236}">
                <a16:creationId xmlns:a16="http://schemas.microsoft.com/office/drawing/2014/main" id="{25BB9CF7-F653-1579-AAE3-061755647F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8AD4E3-E0AD-E09D-2B76-DFE4D5E07CE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68059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B9F01-E369-CDDA-09DB-5B797D7A64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F8E853A-2CA5-0D0D-0F31-8F4FA2FAB939}"/>
              </a:ext>
            </a:extLst>
          </p:cNvPr>
          <p:cNvSpPr>
            <a:spLocks noGrp="1"/>
          </p:cNvSpPr>
          <p:nvPr>
            <p:ph sz="half" idx="1"/>
          </p:nvPr>
        </p:nvSpPr>
        <p:spPr>
          <a:xfrm>
            <a:off x="837982" y="1825625"/>
            <a:ext cx="5180251"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7BC9D27-5D4E-260B-0FBB-CC9664A91F23}"/>
              </a:ext>
            </a:extLst>
          </p:cNvPr>
          <p:cNvSpPr>
            <a:spLocks noGrp="1"/>
          </p:cNvSpPr>
          <p:nvPr>
            <p:ph sz="half" idx="2"/>
          </p:nvPr>
        </p:nvSpPr>
        <p:spPr>
          <a:xfrm>
            <a:off x="6170592" y="1825625"/>
            <a:ext cx="5180251"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E882643-BBD1-E76C-AA30-135D81D7D2CD}"/>
              </a:ext>
            </a:extLst>
          </p:cNvPr>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a:extLst>
              <a:ext uri="{FF2B5EF4-FFF2-40B4-BE49-F238E27FC236}">
                <a16:creationId xmlns:a16="http://schemas.microsoft.com/office/drawing/2014/main" id="{B6667D89-D77D-E5A0-DD0F-F90E348FBC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883E08-7841-A42A-0F48-89AA8D97C4FE}"/>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74228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51D6A-E1F3-4641-0648-58DCCA394E84}"/>
              </a:ext>
            </a:extLst>
          </p:cNvPr>
          <p:cNvSpPr>
            <a:spLocks noGrp="1"/>
          </p:cNvSpPr>
          <p:nvPr>
            <p:ph type="title"/>
          </p:nvPr>
        </p:nvSpPr>
        <p:spPr>
          <a:xfrm>
            <a:off x="839569" y="365126"/>
            <a:ext cx="10512862"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134EE3B-BF7F-2B86-8329-757AA95E32E4}"/>
              </a:ext>
            </a:extLst>
          </p:cNvPr>
          <p:cNvSpPr>
            <a:spLocks noGrp="1"/>
          </p:cNvSpPr>
          <p:nvPr>
            <p:ph type="body" idx="1"/>
          </p:nvPr>
        </p:nvSpPr>
        <p:spPr>
          <a:xfrm>
            <a:off x="839570" y="1681163"/>
            <a:ext cx="5156444" cy="823912"/>
          </a:xfrm>
        </p:spPr>
        <p:txBody>
          <a:bodyPr anchor="b"/>
          <a:lstStyle>
            <a:lvl1pPr marL="0" indent="0">
              <a:buNone/>
              <a:defRPr sz="2399" b="1"/>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56782F-8FDC-B9D5-B7D0-8263CA29FD8F}"/>
              </a:ext>
            </a:extLst>
          </p:cNvPr>
          <p:cNvSpPr>
            <a:spLocks noGrp="1"/>
          </p:cNvSpPr>
          <p:nvPr>
            <p:ph sz="half" idx="2"/>
          </p:nvPr>
        </p:nvSpPr>
        <p:spPr>
          <a:xfrm>
            <a:off x="839570" y="2505075"/>
            <a:ext cx="5156444"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1E01255-0D33-8118-A7D0-5C13F36FF64C}"/>
              </a:ext>
            </a:extLst>
          </p:cNvPr>
          <p:cNvSpPr>
            <a:spLocks noGrp="1"/>
          </p:cNvSpPr>
          <p:nvPr>
            <p:ph type="body" sz="quarter" idx="3"/>
          </p:nvPr>
        </p:nvSpPr>
        <p:spPr>
          <a:xfrm>
            <a:off x="6170593" y="1681163"/>
            <a:ext cx="5181838" cy="823912"/>
          </a:xfrm>
        </p:spPr>
        <p:txBody>
          <a:bodyPr anchor="b"/>
          <a:lstStyle>
            <a:lvl1pPr marL="0" indent="0">
              <a:buNone/>
              <a:defRPr sz="2399" b="1"/>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E40D77-C969-8B82-E7AB-14ED88B1AD95}"/>
              </a:ext>
            </a:extLst>
          </p:cNvPr>
          <p:cNvSpPr>
            <a:spLocks noGrp="1"/>
          </p:cNvSpPr>
          <p:nvPr>
            <p:ph sz="quarter" idx="4"/>
          </p:nvPr>
        </p:nvSpPr>
        <p:spPr>
          <a:xfrm>
            <a:off x="6170593" y="2505075"/>
            <a:ext cx="518183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3E6747B-4E4B-3F7E-6B30-7BE6DCBF0A51}"/>
              </a:ext>
            </a:extLst>
          </p:cNvPr>
          <p:cNvSpPr>
            <a:spLocks noGrp="1"/>
          </p:cNvSpPr>
          <p:nvPr>
            <p:ph type="dt" sz="half" idx="10"/>
          </p:nvPr>
        </p:nvSpPr>
        <p:spPr/>
        <p:txBody>
          <a:bodyPr/>
          <a:lstStyle/>
          <a:p>
            <a:fld id="{5BCAD085-E8A6-8845-BD4E-CB4CCA059FC4}" type="datetimeFigureOut">
              <a:rPr lang="en-US" smtClean="0"/>
              <a:t>9/7/2026</a:t>
            </a:fld>
            <a:endParaRPr lang="en-US"/>
          </a:p>
        </p:txBody>
      </p:sp>
      <p:sp>
        <p:nvSpPr>
          <p:cNvPr id="8" name="Footer Placeholder 7">
            <a:extLst>
              <a:ext uri="{FF2B5EF4-FFF2-40B4-BE49-F238E27FC236}">
                <a16:creationId xmlns:a16="http://schemas.microsoft.com/office/drawing/2014/main" id="{3640107C-AB38-69D6-C780-4010E71D7FE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F42C393-3760-6176-C8D7-A3D945FC5C01}"/>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761800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D294B-3BCE-2E4C-4F77-ED806D536CD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628492C-AF54-ADDE-6C93-4D3CCA966BE0}"/>
              </a:ext>
            </a:extLst>
          </p:cNvPr>
          <p:cNvSpPr>
            <a:spLocks noGrp="1"/>
          </p:cNvSpPr>
          <p:nvPr>
            <p:ph type="dt" sz="half" idx="10"/>
          </p:nvPr>
        </p:nvSpPr>
        <p:spPr/>
        <p:txBody>
          <a:bodyPr/>
          <a:lstStyle/>
          <a:p>
            <a:fld id="{5BCAD085-E8A6-8845-BD4E-CB4CCA059FC4}" type="datetimeFigureOut">
              <a:rPr lang="en-US" smtClean="0"/>
              <a:t>9/7/2026</a:t>
            </a:fld>
            <a:endParaRPr lang="en-US"/>
          </a:p>
        </p:txBody>
      </p:sp>
      <p:sp>
        <p:nvSpPr>
          <p:cNvPr id="4" name="Footer Placeholder 3">
            <a:extLst>
              <a:ext uri="{FF2B5EF4-FFF2-40B4-BE49-F238E27FC236}">
                <a16:creationId xmlns:a16="http://schemas.microsoft.com/office/drawing/2014/main" id="{5B617835-65A9-C673-C5CE-A15B882C61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9FD8098-EE7A-15A7-90E7-9E70EDABB863}"/>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92850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D96331-53E8-E4DA-A550-0CB78A2D9EB3}"/>
              </a:ext>
            </a:extLst>
          </p:cNvPr>
          <p:cNvSpPr>
            <a:spLocks noGrp="1"/>
          </p:cNvSpPr>
          <p:nvPr>
            <p:ph type="dt" sz="half" idx="10"/>
          </p:nvPr>
        </p:nvSpPr>
        <p:spPr/>
        <p:txBody>
          <a:bodyPr/>
          <a:lstStyle/>
          <a:p>
            <a:fld id="{5BCAD085-E8A6-8845-BD4E-CB4CCA059FC4}" type="datetimeFigureOut">
              <a:rPr lang="en-US" smtClean="0"/>
              <a:t>9/7/2026</a:t>
            </a:fld>
            <a:endParaRPr lang="en-US"/>
          </a:p>
        </p:txBody>
      </p:sp>
      <p:sp>
        <p:nvSpPr>
          <p:cNvPr id="3" name="Footer Placeholder 2">
            <a:extLst>
              <a:ext uri="{FF2B5EF4-FFF2-40B4-BE49-F238E27FC236}">
                <a16:creationId xmlns:a16="http://schemas.microsoft.com/office/drawing/2014/main" id="{C2D5AF75-6420-D805-DC5A-7CD91CE7B8C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BB49F66-E133-A18C-5D8C-9979F00921AE}"/>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921865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74ADC-D33D-5AE6-8D78-30B2356AFE39}"/>
              </a:ext>
            </a:extLst>
          </p:cNvPr>
          <p:cNvSpPr>
            <a:spLocks noGrp="1"/>
          </p:cNvSpPr>
          <p:nvPr>
            <p:ph type="title"/>
          </p:nvPr>
        </p:nvSpPr>
        <p:spPr>
          <a:xfrm>
            <a:off x="839570" y="457200"/>
            <a:ext cx="3931213" cy="1600200"/>
          </a:xfrm>
        </p:spPr>
        <p:txBody>
          <a:bodyPr anchor="b"/>
          <a:lstStyle>
            <a:lvl1pPr>
              <a:defRPr sz="3199"/>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1EAC607-B1C9-25DF-0CFD-7EC8338DAD95}"/>
              </a:ext>
            </a:extLst>
          </p:cNvPr>
          <p:cNvSpPr>
            <a:spLocks noGrp="1"/>
          </p:cNvSpPr>
          <p:nvPr>
            <p:ph idx="1"/>
          </p:nvPr>
        </p:nvSpPr>
        <p:spPr>
          <a:xfrm>
            <a:off x="5181838" y="987426"/>
            <a:ext cx="6170593" cy="4873625"/>
          </a:xfrm>
        </p:spPr>
        <p:txBody>
          <a:bodyPr/>
          <a:lstStyle>
            <a:lvl1pPr>
              <a:defRPr sz="3199"/>
            </a:lvl1pPr>
            <a:lvl2pPr>
              <a:defRPr sz="2799"/>
            </a:lvl2pPr>
            <a:lvl3pPr>
              <a:defRPr sz="2399"/>
            </a:lvl3pPr>
            <a:lvl4pPr>
              <a:defRPr sz="1999"/>
            </a:lvl4pPr>
            <a:lvl5pPr>
              <a:defRPr sz="1999"/>
            </a:lvl5pPr>
            <a:lvl6pPr>
              <a:defRPr sz="1999"/>
            </a:lvl6pPr>
            <a:lvl7pPr>
              <a:defRPr sz="1999"/>
            </a:lvl7pPr>
            <a:lvl8pPr>
              <a:defRPr sz="1999"/>
            </a:lvl8pPr>
            <a:lvl9pPr>
              <a:defRPr sz="19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BF1E1FE-0AC5-0E80-7A17-7A0BE2B0646D}"/>
              </a:ext>
            </a:extLst>
          </p:cNvPr>
          <p:cNvSpPr>
            <a:spLocks noGrp="1"/>
          </p:cNvSpPr>
          <p:nvPr>
            <p:ph type="body" sz="half" idx="2"/>
          </p:nvPr>
        </p:nvSpPr>
        <p:spPr>
          <a:xfrm>
            <a:off x="839570" y="2057400"/>
            <a:ext cx="3931213" cy="3811588"/>
          </a:xfrm>
        </p:spPr>
        <p:txBody>
          <a:bodyPr/>
          <a:lstStyle>
            <a:lvl1pPr marL="0" indent="0">
              <a:buNone/>
              <a:defRPr sz="16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0813C7-B556-F12D-167D-CA073163D539}"/>
              </a:ext>
            </a:extLst>
          </p:cNvPr>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a:extLst>
              <a:ext uri="{FF2B5EF4-FFF2-40B4-BE49-F238E27FC236}">
                <a16:creationId xmlns:a16="http://schemas.microsoft.com/office/drawing/2014/main" id="{CAD6A96C-2D4C-02E6-D632-B790FC29D1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7F6A7C-4BAA-44F6-C123-1D147ECAD16E}"/>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07208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92247-DE48-9AC0-36A5-BF820472A9D4}"/>
              </a:ext>
            </a:extLst>
          </p:cNvPr>
          <p:cNvSpPr>
            <a:spLocks noGrp="1"/>
          </p:cNvSpPr>
          <p:nvPr>
            <p:ph type="title"/>
          </p:nvPr>
        </p:nvSpPr>
        <p:spPr>
          <a:xfrm>
            <a:off x="839570" y="457200"/>
            <a:ext cx="3931213" cy="1600200"/>
          </a:xfrm>
        </p:spPr>
        <p:txBody>
          <a:bodyPr anchor="b"/>
          <a:lstStyle>
            <a:lvl1pPr>
              <a:defRPr sz="3199"/>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D75F56D-20E2-A9E1-7740-AF7974C89AD1}"/>
              </a:ext>
            </a:extLst>
          </p:cNvPr>
          <p:cNvSpPr>
            <a:spLocks noGrp="1"/>
          </p:cNvSpPr>
          <p:nvPr>
            <p:ph type="pic" idx="1"/>
          </p:nvPr>
        </p:nvSpPr>
        <p:spPr>
          <a:xfrm>
            <a:off x="5181838" y="987426"/>
            <a:ext cx="6170593" cy="4873625"/>
          </a:xfrm>
        </p:spPr>
        <p:txBody>
          <a:bodyPr/>
          <a:lstStyle>
            <a:lvl1pPr marL="0" indent="0">
              <a:buNone/>
              <a:defRPr sz="3199"/>
            </a:lvl1pPr>
            <a:lvl2pPr marL="457063" indent="0">
              <a:buNone/>
              <a:defRPr sz="2799"/>
            </a:lvl2pPr>
            <a:lvl3pPr marL="914126" indent="0">
              <a:buNone/>
              <a:defRPr sz="2399"/>
            </a:lvl3pPr>
            <a:lvl4pPr marL="1371189" indent="0">
              <a:buNone/>
              <a:defRPr sz="1999"/>
            </a:lvl4pPr>
            <a:lvl5pPr marL="1828251" indent="0">
              <a:buNone/>
              <a:defRPr sz="1999"/>
            </a:lvl5pPr>
            <a:lvl6pPr marL="2285314" indent="0">
              <a:buNone/>
              <a:defRPr sz="1999"/>
            </a:lvl6pPr>
            <a:lvl7pPr marL="2742377" indent="0">
              <a:buNone/>
              <a:defRPr sz="1999"/>
            </a:lvl7pPr>
            <a:lvl8pPr marL="3199440" indent="0">
              <a:buNone/>
              <a:defRPr sz="1999"/>
            </a:lvl8pPr>
            <a:lvl9pPr marL="3656503" indent="0">
              <a:buNone/>
              <a:defRPr sz="1999"/>
            </a:lvl9pPr>
          </a:lstStyle>
          <a:p>
            <a:endParaRPr lang="en-IN"/>
          </a:p>
        </p:txBody>
      </p:sp>
      <p:sp>
        <p:nvSpPr>
          <p:cNvPr id="4" name="Text Placeholder 3">
            <a:extLst>
              <a:ext uri="{FF2B5EF4-FFF2-40B4-BE49-F238E27FC236}">
                <a16:creationId xmlns:a16="http://schemas.microsoft.com/office/drawing/2014/main" id="{20DBD784-3C49-51FE-CCF4-0FF43A995E09}"/>
              </a:ext>
            </a:extLst>
          </p:cNvPr>
          <p:cNvSpPr>
            <a:spLocks noGrp="1"/>
          </p:cNvSpPr>
          <p:nvPr>
            <p:ph type="body" sz="half" idx="2"/>
          </p:nvPr>
        </p:nvSpPr>
        <p:spPr>
          <a:xfrm>
            <a:off x="839570" y="2057400"/>
            <a:ext cx="3931213" cy="3811588"/>
          </a:xfrm>
        </p:spPr>
        <p:txBody>
          <a:bodyPr/>
          <a:lstStyle>
            <a:lvl1pPr marL="0" indent="0">
              <a:buNone/>
              <a:defRPr sz="16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558183-767D-E803-279D-6AB6A3A23476}"/>
              </a:ext>
            </a:extLst>
          </p:cNvPr>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a:extLst>
              <a:ext uri="{FF2B5EF4-FFF2-40B4-BE49-F238E27FC236}">
                <a16:creationId xmlns:a16="http://schemas.microsoft.com/office/drawing/2014/main" id="{914771D9-4438-585E-A522-8D26485DBF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005062-9A08-961D-CA8D-6A36F4EA1C5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9474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22FBC-88CA-C442-6D45-0529592457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3D32ACA-14F3-2381-FF4D-753329CA0E3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B40FA7-DB8A-659F-45A2-21D7C7B5DD81}"/>
              </a:ext>
            </a:extLst>
          </p:cNvPr>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a:extLst>
              <a:ext uri="{FF2B5EF4-FFF2-40B4-BE49-F238E27FC236}">
                <a16:creationId xmlns:a16="http://schemas.microsoft.com/office/drawing/2014/main" id="{E124D9DD-9651-D623-950F-DFD56F3A4D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FC7FA1-B68B-DD88-0BA6-C04BEACF7D5E}"/>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277873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465A6F-7B7B-616F-8C58-D186D37656C9}"/>
              </a:ext>
            </a:extLst>
          </p:cNvPr>
          <p:cNvSpPr>
            <a:spLocks noGrp="1"/>
          </p:cNvSpPr>
          <p:nvPr>
            <p:ph type="title" orient="vert"/>
          </p:nvPr>
        </p:nvSpPr>
        <p:spPr>
          <a:xfrm>
            <a:off x="8722628" y="365125"/>
            <a:ext cx="262821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234A6AA-8100-B2DA-12F7-B29A98DA02EB}"/>
              </a:ext>
            </a:extLst>
          </p:cNvPr>
          <p:cNvSpPr>
            <a:spLocks noGrp="1"/>
          </p:cNvSpPr>
          <p:nvPr>
            <p:ph type="body" orient="vert" idx="1"/>
          </p:nvPr>
        </p:nvSpPr>
        <p:spPr>
          <a:xfrm>
            <a:off x="837982" y="365125"/>
            <a:ext cx="773228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709E3A-FEF1-C71D-9130-EF284BAEADEB}"/>
              </a:ext>
            </a:extLst>
          </p:cNvPr>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a:extLst>
              <a:ext uri="{FF2B5EF4-FFF2-40B4-BE49-F238E27FC236}">
                <a16:creationId xmlns:a16="http://schemas.microsoft.com/office/drawing/2014/main" id="{902078D1-97D8-AAFC-224E-3EBABC094C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0E4C7D-289B-458A-65EA-EF8F15E3D243}"/>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21713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6860B3-8B64-91D2-5901-6E8A9F38A74E}"/>
              </a:ext>
            </a:extLst>
          </p:cNvPr>
          <p:cNvSpPr>
            <a:spLocks noGrp="1"/>
          </p:cNvSpPr>
          <p:nvPr>
            <p:ph type="title"/>
          </p:nvPr>
        </p:nvSpPr>
        <p:spPr>
          <a:xfrm>
            <a:off x="837982" y="365126"/>
            <a:ext cx="10512862"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B1AEF6E-5764-8243-D6AE-9638B292D74A}"/>
              </a:ext>
            </a:extLst>
          </p:cNvPr>
          <p:cNvSpPr>
            <a:spLocks noGrp="1"/>
          </p:cNvSpPr>
          <p:nvPr>
            <p:ph type="body" idx="1"/>
          </p:nvPr>
        </p:nvSpPr>
        <p:spPr>
          <a:xfrm>
            <a:off x="837982" y="1825625"/>
            <a:ext cx="10512862"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E5BB5A-D27C-D7B2-C9EC-2F303860DDED}"/>
              </a:ext>
            </a:extLst>
          </p:cNvPr>
          <p:cNvSpPr>
            <a:spLocks noGrp="1"/>
          </p:cNvSpPr>
          <p:nvPr>
            <p:ph type="dt" sz="half" idx="2"/>
          </p:nvPr>
        </p:nvSpPr>
        <p:spPr>
          <a:xfrm>
            <a:off x="837982" y="6356351"/>
            <a:ext cx="2742486"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9/7/2026</a:t>
            </a:fld>
            <a:endParaRPr lang="en-US"/>
          </a:p>
        </p:txBody>
      </p:sp>
      <p:sp>
        <p:nvSpPr>
          <p:cNvPr id="5" name="Footer Placeholder 4">
            <a:extLst>
              <a:ext uri="{FF2B5EF4-FFF2-40B4-BE49-F238E27FC236}">
                <a16:creationId xmlns:a16="http://schemas.microsoft.com/office/drawing/2014/main" id="{B5CBBCF0-C03F-47C2-E4ED-D758A70CAB4B}"/>
              </a:ext>
            </a:extLst>
          </p:cNvPr>
          <p:cNvSpPr>
            <a:spLocks noGrp="1"/>
          </p:cNvSpPr>
          <p:nvPr>
            <p:ph type="ftr" sz="quarter" idx="3"/>
          </p:nvPr>
        </p:nvSpPr>
        <p:spPr>
          <a:xfrm>
            <a:off x="4037549" y="6356351"/>
            <a:ext cx="4113728"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1798E73-63AA-0D38-CEA4-2D3D106DC732}"/>
              </a:ext>
            </a:extLst>
          </p:cNvPr>
          <p:cNvSpPr>
            <a:spLocks noGrp="1"/>
          </p:cNvSpPr>
          <p:nvPr>
            <p:ph type="sldNum" sz="quarter" idx="4"/>
          </p:nvPr>
        </p:nvSpPr>
        <p:spPr>
          <a:xfrm>
            <a:off x="8608357" y="6356351"/>
            <a:ext cx="2742486"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pic>
        <p:nvPicPr>
          <p:cNvPr id="7" name="Google Shape;100;p13" descr="SSE-Computer Science and Engineering">
            <a:extLst>
              <a:ext uri="{FF2B5EF4-FFF2-40B4-BE49-F238E27FC236}">
                <a16:creationId xmlns:a16="http://schemas.microsoft.com/office/drawing/2014/main" id="{6158324D-523A-17BF-11DE-9D16A8FD8EFA}"/>
              </a:ext>
            </a:extLst>
          </p:cNvPr>
          <p:cNvPicPr preferRelativeResize="0"/>
          <p:nvPr userDrawn="1"/>
        </p:nvPicPr>
        <p:blipFill rotWithShape="1">
          <a:blip r:embed="rId13"/>
          <a:srcRect/>
          <a:stretch>
            <a:fillRect/>
          </a:stretch>
        </p:blipFill>
        <p:spPr>
          <a:xfrm>
            <a:off x="90986" y="0"/>
            <a:ext cx="12000930" cy="1109630"/>
          </a:xfrm>
          <a:prstGeom prst="rect">
            <a:avLst/>
          </a:prstGeom>
          <a:noFill/>
          <a:ln>
            <a:noFill/>
          </a:ln>
        </p:spPr>
      </p:pic>
    </p:spTree>
    <p:extLst>
      <p:ext uri="{BB962C8B-B14F-4D97-AF65-F5344CB8AC3E}">
        <p14:creationId xmlns:p14="http://schemas.microsoft.com/office/powerpoint/2010/main" val="1745960271"/>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914126"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nature.com/articles/s41598-023-51015-1?utm_source=chatgpt.com" TargetMode="External"/><Relationship Id="rId2" Type="http://schemas.openxmlformats.org/officeDocument/2006/relationships/hyperlink" Target="https://doi.org/10.1038/s41598-024-54807-1?utm_source=chatgpt.com" TargetMode="External"/><Relationship Id="rId1" Type="http://schemas.openxmlformats.org/officeDocument/2006/relationships/slideLayout" Target="../slideLayouts/slideLayout2.xml"/><Relationship Id="rId6" Type="http://schemas.openxmlformats.org/officeDocument/2006/relationships/hyperlink" Target="https://link.springer.com/article/10.1007/s44230-023-00039-x?utm_source=chatgpt.com" TargetMode="External"/><Relationship Id="rId5" Type="http://schemas.openxmlformats.org/officeDocument/2006/relationships/hyperlink" Target="https://doi.org/10.1038/s41598-023-31645-1?utm_source=chatgpt.com" TargetMode="External"/><Relationship Id="rId4" Type="http://schemas.openxmlformats.org/officeDocument/2006/relationships/hyperlink" Target="https://link.springer.com/article/10.1007/s43621-024-00272-9?utm_source=chatgpt.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6814" y="1513278"/>
            <a:ext cx="10512862" cy="1325563"/>
          </a:xfrm>
        </p:spPr>
        <p:txBody>
          <a:bodyPr>
            <a:normAutofit/>
          </a:bodyPr>
          <a:lstStyle/>
          <a:p>
            <a:pPr algn="ctr">
              <a:defRPr sz="4000" b="1">
                <a:solidFill>
                  <a:srgbClr val="003366"/>
                </a:solidFill>
              </a:defRPr>
            </a:pPr>
            <a:r>
              <a:rPr lang="en-US" dirty="0"/>
              <a:t>Personalized Healthcare Recommendation through Clinical NLP</a:t>
            </a:r>
            <a:endParaRPr dirty="0"/>
          </a:p>
        </p:txBody>
      </p:sp>
      <p:sp>
        <p:nvSpPr>
          <p:cNvPr id="5" name="Content Placeholder 2">
            <a:extLst>
              <a:ext uri="{FF2B5EF4-FFF2-40B4-BE49-F238E27FC236}">
                <a16:creationId xmlns:a16="http://schemas.microsoft.com/office/drawing/2014/main" id="{E6C64825-B37A-90AC-5802-CC482953025D}"/>
              </a:ext>
            </a:extLst>
          </p:cNvPr>
          <p:cNvSpPr txBox="1">
            <a:spLocks/>
          </p:cNvSpPr>
          <p:nvPr/>
        </p:nvSpPr>
        <p:spPr>
          <a:xfrm>
            <a:off x="1197863" y="2960962"/>
            <a:ext cx="10149840" cy="460588"/>
          </a:xfrm>
          <a:prstGeom prst="rect">
            <a:avLst/>
          </a:prstGeom>
        </p:spPr>
        <p:txBody>
          <a:bodyPr vert="horz" lIns="91440" tIns="45720" rIns="91440" bIns="45720" rtlCol="0" anchor="t">
            <a:noAutofit/>
          </a:bodyPr>
          <a:lstStyle>
            <a:lvl1pPr marL="285664" indent="-285664" algn="l" defTabSz="457063" rtl="0" eaLnBrk="1" latinLnBrk="0" hangingPunct="1">
              <a:spcBef>
                <a:spcPct val="20000"/>
              </a:spcBef>
              <a:spcAft>
                <a:spcPts val="600"/>
              </a:spcAft>
              <a:buClr>
                <a:schemeClr val="accent1"/>
              </a:buClr>
              <a:buSzPct val="115000"/>
              <a:buFont typeface="Arial"/>
              <a:buChar char="•"/>
              <a:defRPr sz="2399" kern="1200" cap="none">
                <a:solidFill>
                  <a:schemeClr val="tx1">
                    <a:lumMod val="85000"/>
                    <a:lumOff val="15000"/>
                  </a:schemeClr>
                </a:solidFill>
                <a:effectLst/>
                <a:latin typeface="+mn-lt"/>
                <a:ea typeface="+mn-ea"/>
                <a:cs typeface="+mn-cs"/>
              </a:defRPr>
            </a:lvl1pPr>
            <a:lvl2pPr marL="742727" indent="-285664" algn="l" defTabSz="457063" rtl="0" eaLnBrk="1" latinLnBrk="0" hangingPunct="1">
              <a:spcBef>
                <a:spcPct val="20000"/>
              </a:spcBef>
              <a:spcAft>
                <a:spcPts val="600"/>
              </a:spcAft>
              <a:buClr>
                <a:schemeClr val="accent1"/>
              </a:buClr>
              <a:buSzPct val="115000"/>
              <a:buFont typeface="Arial"/>
              <a:buChar char="•"/>
              <a:defRPr sz="1999" kern="1200" cap="none">
                <a:solidFill>
                  <a:schemeClr val="tx1">
                    <a:lumMod val="85000"/>
                    <a:lumOff val="15000"/>
                  </a:schemeClr>
                </a:solidFill>
                <a:effectLst/>
                <a:latin typeface="+mn-lt"/>
                <a:ea typeface="+mn-ea"/>
                <a:cs typeface="+mn-cs"/>
              </a:defRPr>
            </a:lvl2pPr>
            <a:lvl3pPr marL="1199790" indent="-285664" algn="l" defTabSz="457063" rtl="0" eaLnBrk="1" latinLnBrk="0" hangingPunct="1">
              <a:spcBef>
                <a:spcPct val="20000"/>
              </a:spcBef>
              <a:spcAft>
                <a:spcPts val="600"/>
              </a:spcAft>
              <a:buClr>
                <a:schemeClr val="accent1"/>
              </a:buClr>
              <a:buSzPct val="115000"/>
              <a:buFont typeface="Arial"/>
              <a:buChar char="•"/>
              <a:defRPr sz="1799" kern="1200" cap="none">
                <a:solidFill>
                  <a:schemeClr val="tx1">
                    <a:lumMod val="85000"/>
                    <a:lumOff val="15000"/>
                  </a:schemeClr>
                </a:solidFill>
                <a:effectLst/>
                <a:latin typeface="+mn-lt"/>
                <a:ea typeface="+mn-ea"/>
                <a:cs typeface="+mn-cs"/>
              </a:defRPr>
            </a:lvl3pPr>
            <a:lvl4pPr marL="1542587" indent="-171399" algn="l" defTabSz="457063"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1999650" indent="-171399" algn="l" defTabSz="457063"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3846" indent="-228531" algn="l" defTabSz="457063"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0908" indent="-228531" algn="l" defTabSz="457063"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7971" indent="-228531" algn="l" defTabSz="457063"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5034" indent="-228531" algn="l" defTabSz="457063"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lgn="ctr">
              <a:buNone/>
              <a:defRPr sz="2400"/>
            </a:pPr>
            <a:r>
              <a:rPr lang="en-US" sz="2400" b="1" dirty="0"/>
              <a:t> SIMATS ENGINEERING</a:t>
            </a:r>
          </a:p>
        </p:txBody>
      </p:sp>
      <p:sp>
        <p:nvSpPr>
          <p:cNvPr id="7" name="TextBox 6">
            <a:extLst>
              <a:ext uri="{FF2B5EF4-FFF2-40B4-BE49-F238E27FC236}">
                <a16:creationId xmlns:a16="http://schemas.microsoft.com/office/drawing/2014/main" id="{6B2FEA29-A4CC-6565-87FE-8039B2DC5F56}"/>
              </a:ext>
            </a:extLst>
          </p:cNvPr>
          <p:cNvSpPr txBox="1"/>
          <p:nvPr/>
        </p:nvSpPr>
        <p:spPr>
          <a:xfrm>
            <a:off x="-1004380" y="5286291"/>
            <a:ext cx="7010400" cy="1225977"/>
          </a:xfrm>
          <a:prstGeom prst="rect">
            <a:avLst/>
          </a:prstGeom>
          <a:noFill/>
        </p:spPr>
        <p:txBody>
          <a:bodyPr wrap="square">
            <a:spAutoFit/>
          </a:bodyPr>
          <a:lstStyle/>
          <a:p>
            <a:pPr marL="1816735">
              <a:lnSpc>
                <a:spcPct val="100000"/>
              </a:lnSpc>
              <a:spcBef>
                <a:spcPts val="100"/>
              </a:spcBef>
            </a:pPr>
            <a:r>
              <a:rPr lang="en-IN" sz="2400" b="1" spc="-10" dirty="0">
                <a:solidFill>
                  <a:srgbClr val="C00000"/>
                </a:solidFill>
                <a:latin typeface="Garamond (Body)"/>
                <a:cs typeface="Times New Roman" panose="02020603050405020304"/>
              </a:rPr>
              <a:t>Supervisor</a:t>
            </a:r>
          </a:p>
          <a:p>
            <a:pPr marL="1816735" algn="just">
              <a:spcBef>
                <a:spcPts val="100"/>
              </a:spcBef>
            </a:pPr>
            <a:r>
              <a:rPr lang="en-IN" sz="2400" dirty="0"/>
              <a:t>Dr. </a:t>
            </a:r>
            <a:r>
              <a:rPr lang="en-IN" sz="2400" dirty="0" err="1"/>
              <a:t>Kumaragurabaran</a:t>
            </a:r>
            <a:endParaRPr lang="en-IN" sz="2400" dirty="0"/>
          </a:p>
          <a:p>
            <a:pPr marL="1816735" algn="just">
              <a:lnSpc>
                <a:spcPct val="100000"/>
              </a:lnSpc>
              <a:spcBef>
                <a:spcPts val="100"/>
              </a:spcBef>
            </a:pPr>
            <a:endParaRPr lang="en-IN" sz="2400" spc="-10" dirty="0">
              <a:latin typeface="Garamond (Body)"/>
              <a:cs typeface="Times New Roman" panose="02020603050405020304"/>
            </a:endParaRPr>
          </a:p>
        </p:txBody>
      </p:sp>
      <p:sp>
        <p:nvSpPr>
          <p:cNvPr id="9" name="TextBox 8">
            <a:extLst>
              <a:ext uri="{FF2B5EF4-FFF2-40B4-BE49-F238E27FC236}">
                <a16:creationId xmlns:a16="http://schemas.microsoft.com/office/drawing/2014/main" id="{93BEB3C9-69FF-152D-C821-2CE783F4B7A3}"/>
              </a:ext>
            </a:extLst>
          </p:cNvPr>
          <p:cNvSpPr txBox="1"/>
          <p:nvPr/>
        </p:nvSpPr>
        <p:spPr>
          <a:xfrm>
            <a:off x="5372862" y="4096512"/>
            <a:ext cx="6112764" cy="1754326"/>
          </a:xfrm>
          <a:prstGeom prst="rect">
            <a:avLst/>
          </a:prstGeom>
          <a:noFill/>
        </p:spPr>
        <p:txBody>
          <a:bodyPr wrap="square">
            <a:spAutoFit/>
          </a:bodyPr>
          <a:lstStyle/>
          <a:p>
            <a:pPr marL="1816735" algn="r">
              <a:lnSpc>
                <a:spcPct val="150000"/>
              </a:lnSpc>
              <a:spcBef>
                <a:spcPts val="100"/>
              </a:spcBef>
            </a:pPr>
            <a:r>
              <a:rPr lang="en-IN" sz="2400" b="1" spc="-10" dirty="0">
                <a:solidFill>
                  <a:srgbClr val="C00000"/>
                </a:solidFill>
                <a:latin typeface="Times New Roman" panose="02020603050405020304"/>
                <a:cs typeface="Times New Roman" panose="02020603050405020304"/>
              </a:rPr>
              <a:t>Presented by:</a:t>
            </a:r>
            <a:endParaRPr lang="en-IN" sz="2400" spc="-10" dirty="0">
              <a:solidFill>
                <a:srgbClr val="C00000"/>
              </a:solidFill>
              <a:latin typeface="Times New Roman" panose="02020603050405020304"/>
              <a:cs typeface="Times New Roman" panose="02020603050405020304"/>
            </a:endParaRPr>
          </a:p>
          <a:p>
            <a:pPr algn="r">
              <a:defRPr sz="2400"/>
            </a:pPr>
            <a:r>
              <a:rPr lang="en-IN" dirty="0" err="1"/>
              <a:t>L. Sai Pavan</a:t>
            </a:r>
          </a:p>
          <a:p>
            <a:pPr algn="r">
              <a:defRPr sz="2400"/>
            </a:pPr>
            <a:r>
              <a:rPr lang="en-IN" dirty="0" err="1"/>
              <a:t>M. Saiteja</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4830" y="877190"/>
            <a:ext cx="10512862" cy="1325563"/>
          </a:xfrm>
        </p:spPr>
        <p:txBody>
          <a:bodyPr/>
          <a:lstStyle/>
          <a:p>
            <a:pPr>
              <a:defRPr sz="4000" b="1">
                <a:solidFill>
                  <a:srgbClr val="003366"/>
                </a:solidFill>
              </a:defRPr>
            </a:pPr>
            <a:r>
              <a:rPr dirty="0"/>
              <a:t>Introduction</a:t>
            </a:r>
          </a:p>
        </p:txBody>
      </p:sp>
      <p:sp>
        <p:nvSpPr>
          <p:cNvPr id="3" name="Content Placeholder 2"/>
          <p:cNvSpPr>
            <a:spLocks noGrp="1"/>
          </p:cNvSpPr>
          <p:nvPr>
            <p:ph idx="1"/>
          </p:nvPr>
        </p:nvSpPr>
        <p:spPr>
          <a:xfrm>
            <a:off x="911133" y="2136521"/>
            <a:ext cx="10512862" cy="4351338"/>
          </a:xfrm>
        </p:spPr>
        <p:txBody>
          <a:bodyPr>
            <a:normAutofit fontScale="95000"/>
          </a:bodyPr>
          <a:lstStyle/>
          <a:p>
            <a:pPr algn="l">
              <a:buNone/>
            </a:pPr>
            <a:r>
              <a:rPr lang="en-US" sz="2400" b="1" dirty="0"/>
              <a:t>Overview</a:t>
            </a:r>
          </a:p>
          <a:p>
            <a:r>
              <a:rPr lang="en-US" sz="2400" dirty="0"/>
              <a:t>Healthcare records contain large amounts of medical text that identify diseases, symptoms, and medicines.</a:t>
            </a:r>
          </a:p>
          <a:p>
            <a:r>
              <a:rPr lang="en-US" sz="2400" dirty="0"/>
              <a:t>Clinical NLP extracts important medical information directly from unstructured clinical text.</a:t>
            </a:r>
          </a:p>
          <a:p>
            <a:pPr algn="l">
              <a:buNone/>
            </a:pPr>
            <a:r>
              <a:rPr lang="en-US" sz="2400" b="1" dirty="0"/>
              <a:t>Problem Context</a:t>
            </a:r>
          </a:p>
          <a:p>
            <a:r>
              <a:rPr lang="en-US" sz="2400" dirty="0"/>
              <a:t>This information is difficult to interpret manually, and existing tools rarely deliver patient-specific guidance.</a:t>
            </a:r>
          </a:p>
          <a:p>
            <a:pPr algn="l">
              <a:buNone/>
            </a:pPr>
            <a:r>
              <a:rPr lang="en-US" sz="2400" b="1" dirty="0"/>
              <a:t>Proposed Idea</a:t>
            </a:r>
          </a:p>
          <a:p>
            <a:r>
              <a:rPr lang="en-US" sz="2400" dirty="0"/>
              <a:t>Apply Clinical NLP to extract medical concepts from patient records and generate personalized treatment recommendations with outcome prediction.</a:t>
            </a:r>
            <a:endParaRPr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766" y="904622"/>
            <a:ext cx="10512862" cy="1325563"/>
          </a:xfrm>
        </p:spPr>
        <p:txBody>
          <a:bodyPr/>
          <a:lstStyle/>
          <a:p>
            <a:pPr>
              <a:defRPr sz="4000" b="1">
                <a:solidFill>
                  <a:srgbClr val="003366"/>
                </a:solidFill>
              </a:defRPr>
            </a:pPr>
            <a:r>
              <a:rPr dirty="0"/>
              <a:t>Problem Statement</a:t>
            </a:r>
          </a:p>
        </p:txBody>
      </p:sp>
      <p:sp>
        <p:nvSpPr>
          <p:cNvPr id="3" name="Content Placeholder 2"/>
          <p:cNvSpPr>
            <a:spLocks noGrp="1"/>
          </p:cNvSpPr>
          <p:nvPr>
            <p:ph idx="1"/>
          </p:nvPr>
        </p:nvSpPr>
        <p:spPr>
          <a:xfrm>
            <a:off x="1057438" y="2520569"/>
            <a:ext cx="10244546" cy="3304159"/>
          </a:xfrm>
        </p:spPr>
        <p:txBody>
          <a:bodyPr>
            <a:normAutofit/>
          </a:bodyPr>
          <a:lstStyle/>
          <a:p>
            <a:pPr algn="just"/>
            <a:r>
              <a:rPr lang="en-US" sz="2600" dirty="0"/>
              <a:t>Providing personalized healthcare suggestions based on individual patient conditions is challenging with manual review of clinical text.</a:t>
            </a:r>
          </a:p>
          <a:p>
            <a:pPr algn="just"/>
            <a:r>
              <a:rPr lang="en-US" sz="2600" dirty="0"/>
              <a:t>Existing systems often provide generalized healthcare recommendations rather than patient-specific treatment plans.</a:t>
            </a:r>
          </a:p>
          <a:p>
            <a:pPr algn="just"/>
            <a:r>
              <a:rPr lang="en-US" sz="2600" dirty="0"/>
              <a:t>Accurate prediction of patient outcomes and recovery status remains difficult, motivating a Clinical NLP based approach.</a:t>
            </a:r>
            <a:endParaRPr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4206" y="1027907"/>
            <a:ext cx="10512862" cy="1325563"/>
          </a:xfrm>
        </p:spPr>
        <p:txBody>
          <a:bodyPr/>
          <a:lstStyle/>
          <a:p>
            <a:pPr>
              <a:defRPr sz="4000" b="1">
                <a:solidFill>
                  <a:srgbClr val="003366"/>
                </a:solidFill>
              </a:defRPr>
            </a:pPr>
            <a:r>
              <a:rPr dirty="0"/>
              <a:t>Objectives</a:t>
            </a:r>
          </a:p>
        </p:txBody>
      </p:sp>
      <p:sp>
        <p:nvSpPr>
          <p:cNvPr id="3" name="Content Placeholder 2"/>
          <p:cNvSpPr>
            <a:spLocks noGrp="1"/>
          </p:cNvSpPr>
          <p:nvPr>
            <p:ph idx="1"/>
          </p:nvPr>
        </p:nvSpPr>
        <p:spPr>
          <a:xfrm>
            <a:off x="645958" y="2209673"/>
            <a:ext cx="10512862" cy="4351338"/>
          </a:xfrm>
        </p:spPr>
        <p:txBody>
          <a:bodyPr>
            <a:normAutofit/>
          </a:bodyPr>
          <a:lstStyle/>
          <a:p>
            <a:r>
              <a:rPr lang="en-US" sz="2600" dirty="0"/>
              <a:t>Collect and organize patient healthcare data for analysis.</a:t>
            </a:r>
          </a:p>
          <a:p>
            <a:r>
              <a:rPr lang="en-US" sz="2600" dirty="0"/>
              <a:t>Analyze clinical notes and medical records using Clinical NLP techniques.</a:t>
            </a:r>
          </a:p>
          <a:p>
            <a:r>
              <a:rPr lang="en-US" sz="2600" dirty="0"/>
              <a:t>Extract important medical information such as diseases, symptoms, and treatments.</a:t>
            </a:r>
          </a:p>
          <a:p>
            <a:r>
              <a:rPr lang="en-US" sz="2600" dirty="0"/>
              <a:t>Convert unstructured medical text into structured information.</a:t>
            </a:r>
          </a:p>
          <a:p>
            <a:r>
              <a:rPr lang="en-US" sz="2600" dirty="0"/>
              <a:t>Develop a personalized treatment recommendation system based on patient conditions.</a:t>
            </a:r>
            <a:endParaRPr sz="2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470" y="1027907"/>
            <a:ext cx="9147266" cy="892333"/>
          </a:xfrm>
        </p:spPr>
        <p:txBody>
          <a:bodyPr/>
          <a:lstStyle/>
          <a:p>
            <a:pPr>
              <a:defRPr sz="4000" b="1">
                <a:solidFill>
                  <a:srgbClr val="003366"/>
                </a:solidFill>
              </a:defRPr>
            </a:pPr>
            <a:r>
              <a:rPr dirty="0">
                <a:latin typeface="Times New Roman" panose="02020603050405020304" pitchFamily="18" charset="0"/>
                <a:cs typeface="Times New Roman" panose="02020603050405020304" pitchFamily="18" charset="0"/>
              </a:rPr>
              <a:t>Literature Review </a:t>
            </a:r>
          </a:p>
        </p:txBody>
      </p:sp>
      <p:graphicFrame>
        <p:nvGraphicFramePr>
          <p:cNvPr id="4" name="Table 3">
            <a:extLst>
              <a:ext uri="{FF2B5EF4-FFF2-40B4-BE49-F238E27FC236}">
                <a16:creationId xmlns:a16="http://schemas.microsoft.com/office/drawing/2014/main" id="{18A96199-2A84-6962-A018-FECFF9F7EE57}"/>
              </a:ext>
            </a:extLst>
          </p:cNvPr>
          <p:cNvGraphicFramePr>
            <a:graphicFrameLocks noGrp="1"/>
          </p:cNvGraphicFramePr>
          <p:nvPr>
            <p:extLst>
              <p:ext uri="{D42A27DB-BD31-4B8C-83A1-F6EECF244321}">
                <p14:modId xmlns:p14="http://schemas.microsoft.com/office/powerpoint/2010/main" val="2640251437"/>
              </p:ext>
            </p:extLst>
          </p:nvPr>
        </p:nvGraphicFramePr>
        <p:xfrm>
          <a:off x="1174940" y="2019875"/>
          <a:ext cx="9838944" cy="4550459"/>
        </p:xfrm>
        <a:graphic>
          <a:graphicData uri="http://schemas.openxmlformats.org/drawingml/2006/table">
            <a:tbl>
              <a:tblPr firstRow="1" bandRow="1">
                <a:tableStyleId>{073A0DAA-6AF3-43AB-8588-CEC1D06C72B9}</a:tableStyleId>
              </a:tblPr>
              <a:tblGrid>
                <a:gridCol w="946468">
                  <a:extLst>
                    <a:ext uri="{9D8B030D-6E8A-4147-A177-3AD203B41FA5}">
                      <a16:colId xmlns:a16="http://schemas.microsoft.com/office/drawing/2014/main" val="3257880442"/>
                    </a:ext>
                  </a:extLst>
                </a:gridCol>
                <a:gridCol w="3973004">
                  <a:extLst>
                    <a:ext uri="{9D8B030D-6E8A-4147-A177-3AD203B41FA5}">
                      <a16:colId xmlns:a16="http://schemas.microsoft.com/office/drawing/2014/main" val="468043823"/>
                    </a:ext>
                  </a:extLst>
                </a:gridCol>
                <a:gridCol w="2459736">
                  <a:extLst>
                    <a:ext uri="{9D8B030D-6E8A-4147-A177-3AD203B41FA5}">
                      <a16:colId xmlns:a16="http://schemas.microsoft.com/office/drawing/2014/main" val="195085722"/>
                    </a:ext>
                  </a:extLst>
                </a:gridCol>
                <a:gridCol w="2459736">
                  <a:extLst>
                    <a:ext uri="{9D8B030D-6E8A-4147-A177-3AD203B41FA5}">
                      <a16:colId xmlns:a16="http://schemas.microsoft.com/office/drawing/2014/main" val="1040352988"/>
                    </a:ext>
                  </a:extLst>
                </a:gridCol>
              </a:tblGrid>
              <a:tr h="326156">
                <a:tc>
                  <a:txBody>
                    <a:bodyPr/>
                    <a:lstStyle/>
                    <a:p>
                      <a:pPr>
                        <a:buNone/>
                      </a:pPr>
                      <a:r>
                        <a:rPr lang="en-IN" sz="1200" dirty="0"/>
                        <a:t>S. No</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200"/>
                        <a:t>Title, Author &amp; Year</a:t>
                      </a:r>
                      <a:endParaRPr lang="en-IN" sz="1200">
                        <a:latin typeface="Times New Roman" panose="02020603050405020304" pitchFamily="18" charset="0"/>
                        <a:cs typeface="Times New Roman" panose="02020603050405020304" pitchFamily="18" charset="0"/>
                      </a:endParaRPr>
                    </a:p>
                  </a:txBody>
                  <a:tcPr anchor="ctr"/>
                </a:tc>
                <a:tc>
                  <a:txBody>
                    <a:bodyPr/>
                    <a:lstStyle/>
                    <a:p>
                      <a:pPr>
                        <a:buNone/>
                      </a:pPr>
                      <a:r>
                        <a:rPr lang="en-IN" sz="1200" dirty="0"/>
                        <a:t>Key Contribution</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200" dirty="0"/>
                        <a:t>Limitation</a:t>
                      </a:r>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38452593"/>
                  </a:ext>
                </a:extLst>
              </a:tr>
              <a:tr h="885281">
                <a:tc>
                  <a:txBody>
                    <a:bodyPr/>
                    <a:lstStyle/>
                    <a:p>
                      <a:pPr>
                        <a:buNone/>
                      </a:pPr>
                      <a:r>
                        <a:rPr lang="en-IN" sz="1200"/>
                        <a:t>1</a:t>
                      </a:r>
                      <a:endParaRPr lang="en-IN" sz="1200">
                        <a:latin typeface="Times New Roman" panose="02020603050405020304" pitchFamily="18" charset="0"/>
                        <a:cs typeface="Times New Roman" panose="02020603050405020304" pitchFamily="18" charset="0"/>
                      </a:endParaRPr>
                    </a:p>
                  </a:txBody>
                  <a:tcPr anchor="ctr"/>
                </a:tc>
                <a:tc>
                  <a:txBody>
                    <a:bodyPr/>
                    <a:lstStyle/>
                    <a:p>
                      <a:pPr>
                        <a:buNone/>
                      </a:pPr>
                      <a:r>
                        <a:rPr lang="en-IN" sz="1200"/>
                        <a:t>Clinical Decision Support Using Pseudo-Notes from EHR Data – Lee et al. (2025)</a:t>
                      </a:r>
                      <a:endParaRPr lang="en-IN" sz="1200">
                        <a:latin typeface="Times New Roman" panose="02020603050405020304" pitchFamily="18" charset="0"/>
                        <a:cs typeface="Times New Roman" panose="02020603050405020304" pitchFamily="18" charset="0"/>
                      </a:endParaRPr>
                    </a:p>
                  </a:txBody>
                  <a:tcPr anchor="ctr"/>
                </a:tc>
                <a:tc>
                  <a:txBody>
                    <a:bodyPr/>
                    <a:lstStyle/>
                    <a:p>
                      <a:pPr>
                        <a:buNone/>
                      </a:pPr>
                      <a:r>
                        <a:rPr lang="en-IN" sz="1200"/>
                        <a:t>Improved patient outcome prediction and clinical decision support using NLP-based EHR analysis</a:t>
                      </a:r>
                      <a:endParaRPr lang="en-IN" sz="1200">
                        <a:latin typeface="Times New Roman" panose="02020603050405020304" pitchFamily="18" charset="0"/>
                        <a:cs typeface="Times New Roman" panose="02020603050405020304" pitchFamily="18" charset="0"/>
                      </a:endParaRPr>
                    </a:p>
                  </a:txBody>
                  <a:tcPr anchor="ctr"/>
                </a:tc>
                <a:tc>
                  <a:txBody>
                    <a:bodyPr/>
                    <a:lstStyle/>
                    <a:p>
                      <a:pPr>
                        <a:buNone/>
                      </a:pPr>
                      <a:r>
                        <a:rPr lang="en-IN" sz="1200"/>
                        <a:t>Requires large multi-source EHR data integration (</a:t>
                      </a:r>
                      <a:r>
                        <a:rPr lang="en-IN" sz="1200">
                          <a:hlinkClick r:id="rId2" tooltip="Optimized machine learning model for air quality index prediction in major cities in India | Scientific Reports"/>
                        </a:rPr>
                        <a:t>npj Digital Medicine</a:t>
                      </a:r>
                      <a:r>
                        <a:rPr lang="en-IN" sz="1200"/>
                        <a:t>)</a:t>
                      </a:r>
                      <a:endParaRPr lang="en-IN" sz="12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55117895"/>
                  </a:ext>
                </a:extLst>
              </a:tr>
              <a:tr h="745500">
                <a:tc>
                  <a:txBody>
                    <a:bodyPr/>
                    <a:lstStyle/>
                    <a:p>
                      <a:pPr>
                        <a:buNone/>
                      </a:pPr>
                      <a:r>
                        <a:rPr lang="en-IN" sz="1200" dirty="0"/>
                        <a:t>2</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200" dirty="0"/>
                        <a:t>BioClinical ModernBERT: Long-Context Encoder for Clinical NLP – </a:t>
                      </a:r>
                      <a:r>
                        <a:rPr lang="en-IN" sz="1200" dirty="0" err="1"/>
                        <a:t>Sounack</a:t>
                      </a:r>
                      <a:r>
                        <a:rPr lang="en-IN" sz="1200" dirty="0"/>
                        <a:t> et al. (2025)</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200"/>
                        <a:t>Achieved high accuracy in medical concept extraction using transformer-based Clinical NLP</a:t>
                      </a:r>
                      <a:endParaRPr lang="en-IN" sz="1200">
                        <a:latin typeface="Times New Roman" panose="02020603050405020304" pitchFamily="18" charset="0"/>
                        <a:cs typeface="Times New Roman" panose="02020603050405020304" pitchFamily="18" charset="0"/>
                      </a:endParaRPr>
                    </a:p>
                  </a:txBody>
                  <a:tcPr anchor="ctr"/>
                </a:tc>
                <a:tc>
                  <a:txBody>
                    <a:bodyPr/>
                    <a:lstStyle/>
                    <a:p>
                      <a:pPr>
                        <a:buNone/>
                      </a:pPr>
                      <a:r>
                        <a:rPr lang="en-IN" sz="1200"/>
                        <a:t>High computational cost for long-context transformer models (</a:t>
                      </a:r>
                      <a:r>
                        <a:rPr lang="en-IN" sz="1200">
                          <a:hlinkClick r:id="rId3" tooltip="Uncovering local aggregated air quality index with smartphone captured images leveraging efficient deep convolutional neural network | Scientific Reports"/>
                        </a:rPr>
                        <a:t>arXiv</a:t>
                      </a:r>
                      <a:r>
                        <a:rPr lang="en-IN" sz="1200"/>
                        <a:t>)</a:t>
                      </a:r>
                      <a:endParaRPr lang="en-IN" sz="12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23078416"/>
                  </a:ext>
                </a:extLst>
              </a:tr>
              <a:tr h="885281">
                <a:tc>
                  <a:txBody>
                    <a:bodyPr/>
                    <a:lstStyle/>
                    <a:p>
                      <a:pPr>
                        <a:buNone/>
                      </a:pPr>
                      <a:r>
                        <a:rPr lang="en-IN" sz="1200"/>
                        <a:t>3</a:t>
                      </a:r>
                      <a:endParaRPr lang="en-IN" sz="1200">
                        <a:latin typeface="Times New Roman" panose="02020603050405020304" pitchFamily="18" charset="0"/>
                        <a:cs typeface="Times New Roman" panose="02020603050405020304" pitchFamily="18" charset="0"/>
                      </a:endParaRPr>
                    </a:p>
                  </a:txBody>
                  <a:tcPr anchor="ctr"/>
                </a:tc>
                <a:tc>
                  <a:txBody>
                    <a:bodyPr/>
                    <a:lstStyle/>
                    <a:p>
                      <a:pPr>
                        <a:buNone/>
                      </a:pPr>
                      <a:r>
                        <a:rPr lang="en-IN" sz="1200"/>
                        <a:t>Evaluating LLM Workflows in Clinical Decision Support – Gaber et al. (2025)</a:t>
                      </a:r>
                      <a:endParaRPr lang="en-IN" sz="1200">
                        <a:latin typeface="Times New Roman" panose="02020603050405020304" pitchFamily="18" charset="0"/>
                        <a:cs typeface="Times New Roman" panose="02020603050405020304" pitchFamily="18" charset="0"/>
                      </a:endParaRPr>
                    </a:p>
                  </a:txBody>
                  <a:tcPr anchor="ctr"/>
                </a:tc>
                <a:tc>
                  <a:txBody>
                    <a:bodyPr/>
                    <a:lstStyle/>
                    <a:p>
                      <a:pPr>
                        <a:buNone/>
                      </a:pPr>
                      <a:r>
                        <a:rPr lang="en-IN" sz="1200"/>
                        <a:t>Enhanced diagnosis, triage, and treatment recommendation using Large Language Models</a:t>
                      </a:r>
                      <a:endParaRPr lang="en-IN" sz="1200">
                        <a:latin typeface="Times New Roman" panose="02020603050405020304" pitchFamily="18" charset="0"/>
                        <a:cs typeface="Times New Roman" panose="02020603050405020304" pitchFamily="18" charset="0"/>
                      </a:endParaRPr>
                    </a:p>
                  </a:txBody>
                  <a:tcPr anchor="ctr"/>
                </a:tc>
                <a:tc>
                  <a:txBody>
                    <a:bodyPr/>
                    <a:lstStyle/>
                    <a:p>
                      <a:pPr>
                        <a:buNone/>
                      </a:pPr>
                      <a:r>
                        <a:rPr lang="en-IN" sz="1200"/>
                        <a:t>LLM outputs need clinical validation before deployment (</a:t>
                      </a:r>
                      <a:r>
                        <a:rPr lang="en-IN" sz="1200">
                          <a:hlinkClick r:id="rId4" tooltip="A deep learning approach for prediction of air quality index in smart city | Discover Sustainability | Springer Nature Link"/>
                        </a:rPr>
                        <a:t>JAMIA</a:t>
                      </a:r>
                      <a:r>
                        <a:rPr lang="en-IN" sz="1200"/>
                        <a:t>)</a:t>
                      </a:r>
                      <a:endParaRPr lang="en-IN" sz="12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218850096"/>
                  </a:ext>
                </a:extLst>
              </a:tr>
              <a:tr h="885281">
                <a:tc>
                  <a:txBody>
                    <a:bodyPr/>
                    <a:lstStyle/>
                    <a:p>
                      <a:pPr>
                        <a:buNone/>
                      </a:pPr>
                      <a:r>
                        <a:rPr lang="en-IN" sz="1200"/>
                        <a:t>4</a:t>
                      </a:r>
                      <a:endParaRPr lang="en-IN" sz="1200">
                        <a:latin typeface="Times New Roman" panose="02020603050405020304" pitchFamily="18" charset="0"/>
                        <a:cs typeface="Times New Roman" panose="02020603050405020304" pitchFamily="18" charset="0"/>
                      </a:endParaRPr>
                    </a:p>
                  </a:txBody>
                  <a:tcPr anchor="ctr"/>
                </a:tc>
                <a:tc>
                  <a:txBody>
                    <a:bodyPr/>
                    <a:lstStyle/>
                    <a:p>
                      <a:pPr>
                        <a:buNone/>
                      </a:pPr>
                      <a:r>
                        <a:rPr lang="en-IN" sz="1200"/>
                        <a:t>NLP Modeling for Restricted Data Availability in Clinical Settings – Villena et al. (2025)</a:t>
                      </a:r>
                      <a:endParaRPr lang="en-IN" sz="1200">
                        <a:latin typeface="Times New Roman" panose="02020603050405020304" pitchFamily="18" charset="0"/>
                        <a:cs typeface="Times New Roman" panose="02020603050405020304" pitchFamily="18" charset="0"/>
                      </a:endParaRPr>
                    </a:p>
                  </a:txBody>
                  <a:tcPr anchor="ctr"/>
                </a:tc>
                <a:tc>
                  <a:txBody>
                    <a:bodyPr/>
                    <a:lstStyle/>
                    <a:p>
                      <a:pPr>
                        <a:buNone/>
                      </a:pPr>
                      <a:r>
                        <a:rPr lang="en-IN" sz="1200"/>
                        <a:t>Extracted valuable medical information from limited healthcare data using Clinical NLP techniques</a:t>
                      </a:r>
                      <a:endParaRPr lang="en-IN" sz="1200">
                        <a:latin typeface="Times New Roman" panose="02020603050405020304" pitchFamily="18" charset="0"/>
                        <a:cs typeface="Times New Roman" panose="02020603050405020304" pitchFamily="18" charset="0"/>
                      </a:endParaRPr>
                    </a:p>
                  </a:txBody>
                  <a:tcPr anchor="ctr"/>
                </a:tc>
                <a:tc>
                  <a:txBody>
                    <a:bodyPr/>
                    <a:lstStyle/>
                    <a:p>
                      <a:pPr>
                        <a:buNone/>
                      </a:pPr>
                      <a:r>
                        <a:rPr lang="en-IN" sz="1200" dirty="0"/>
                        <a:t>Performance may degrade with very limited or noisy data (</a:t>
                      </a:r>
                      <a:r>
                        <a:rPr lang="en-IN" sz="1200" dirty="0">
                          <a:hlinkClick r:id="rId5" tooltip="High-dimensional spatiotemporal visual analysis of the air quality in China | Scientific Reports"/>
                        </a:rPr>
                        <a:t>DOI</a:t>
                      </a:r>
                      <a:r>
                        <a:rPr lang="en-IN" sz="1200" dirty="0"/>
                        <a:t>)</a:t>
                      </a:r>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302011685"/>
                  </a:ext>
                </a:extLst>
              </a:tr>
              <a:tr h="745500">
                <a:tc>
                  <a:txBody>
                    <a:bodyPr/>
                    <a:lstStyle/>
                    <a:p>
                      <a:pPr>
                        <a:buNone/>
                      </a:pPr>
                      <a:r>
                        <a:rPr lang="en-IN" sz="1200"/>
                        <a:t>5</a:t>
                      </a:r>
                      <a:endParaRPr lang="en-IN" sz="1200">
                        <a:latin typeface="Times New Roman" panose="02020603050405020304" pitchFamily="18" charset="0"/>
                        <a:cs typeface="Times New Roman" panose="02020603050405020304" pitchFamily="18" charset="0"/>
                      </a:endParaRPr>
                    </a:p>
                  </a:txBody>
                  <a:tcPr anchor="ctr"/>
                </a:tc>
                <a:tc>
                  <a:txBody>
                    <a:bodyPr/>
                    <a:lstStyle/>
                    <a:p>
                      <a:pPr>
                        <a:buNone/>
                      </a:pPr>
                      <a:r>
                        <a:rPr lang="en-IN" sz="1200"/>
                        <a:t>MCD-EARS: Multimodal Cross-Domain Expertise-Aware Recommender System (2026)</a:t>
                      </a:r>
                      <a:endParaRPr lang="en-IN" sz="1200">
                        <a:latin typeface="Times New Roman" panose="02020603050405020304" pitchFamily="18" charset="0"/>
                        <a:cs typeface="Times New Roman" panose="02020603050405020304" pitchFamily="18" charset="0"/>
                      </a:endParaRPr>
                    </a:p>
                  </a:txBody>
                  <a:tcPr anchor="ctr"/>
                </a:tc>
                <a:tc>
                  <a:txBody>
                    <a:bodyPr/>
                    <a:lstStyle/>
                    <a:p>
                      <a:pPr>
                        <a:buNone/>
                      </a:pPr>
                      <a:r>
                        <a:rPr lang="en-IN" sz="1200" dirty="0"/>
                        <a:t>Improves healthcare recommendation accuracy using multimodal, expertise-aware modeling</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200" dirty="0"/>
                        <a:t>Requires diverse multimodal data sources for training (</a:t>
                      </a:r>
                      <a:r>
                        <a:rPr lang="en-IN" sz="1200" dirty="0">
                          <a:hlinkClick r:id="rId6" tooltip="AQIPred: A Hybrid Model for High Precision Time Specific Forecasting of Air Quality Index with Cluster Analysis | Human-Centric Intelligent Systems | Springer Nature Link"/>
                        </a:rPr>
                        <a:t>Information Sciences</a:t>
                      </a:r>
                      <a:r>
                        <a:rPr lang="en-IN" sz="1200" dirty="0"/>
                        <a:t>)</a:t>
                      </a:r>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54071438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DDE184-9E17-F60A-1135-A63319B7A650}"/>
              </a:ext>
            </a:extLst>
          </p:cNvPr>
          <p:cNvSpPr>
            <a:spLocks noGrp="1"/>
          </p:cNvSpPr>
          <p:nvPr>
            <p:ph idx="1"/>
          </p:nvPr>
        </p:nvSpPr>
        <p:spPr/>
        <p:txBody>
          <a:bodyPr>
            <a:normAutofit fontScale="77500" lnSpcReduction="20000"/>
          </a:bodyPr>
          <a:lstStyle/>
          <a:p>
            <a:r>
              <a:rPr lang="en-IN" b="1" dirty="0">
                <a:latin typeface="Times New Roman" panose="02020603050405020304" pitchFamily="18" charset="0"/>
                <a:cs typeface="Times New Roman" panose="02020603050405020304" pitchFamily="18" charset="0"/>
              </a:rPr>
              <a:t>Existing Systems</a:t>
            </a:r>
          </a:p>
          <a:p>
            <a:pPr lvl="0"/>
            <a:r>
              <a:rPr lang="en-IN" dirty="0">
                <a:latin typeface="Times New Roman" panose="02020603050405020304" pitchFamily="18" charset="0"/>
                <a:cs typeface="Times New Roman" panose="02020603050405020304" pitchFamily="18" charset="0"/>
              </a:rPr>
              <a:t>Clinical decision support systems rely on rule-based checklists and static protocols. </a:t>
            </a:r>
          </a:p>
          <a:p>
            <a:pPr lvl="0"/>
            <a:r>
              <a:rPr lang="en-IN" dirty="0">
                <a:latin typeface="Times New Roman" panose="02020603050405020304" pitchFamily="18" charset="0"/>
                <a:cs typeface="Times New Roman" panose="02020603050405020304" pitchFamily="18" charset="0"/>
              </a:rPr>
              <a:t>General health information platforms provide generic advice without patient-specific analysis. </a:t>
            </a:r>
          </a:p>
          <a:p>
            <a:pPr lvl="0"/>
            <a:r>
              <a:rPr lang="en-IN" dirty="0">
                <a:latin typeface="Times New Roman" panose="02020603050405020304" pitchFamily="18" charset="0"/>
                <a:cs typeface="Times New Roman" panose="02020603050405020304" pitchFamily="18" charset="0"/>
              </a:rPr>
              <a:t>Hospital systems often depend on manual chart review, which is time-consuming for clinicians. </a:t>
            </a:r>
          </a:p>
          <a:p>
            <a:pPr lvl="0"/>
            <a:r>
              <a:rPr lang="en-IN" dirty="0">
                <a:latin typeface="Times New Roman" panose="02020603050405020304" pitchFamily="18" charset="0"/>
                <a:cs typeface="Times New Roman" panose="02020603050405020304" pitchFamily="18" charset="0"/>
              </a:rPr>
              <a:t>Existing NLP tools mostly focus on prediction, not personalized treatment recommendations. </a:t>
            </a:r>
          </a:p>
          <a:p>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pPr marL="0" indent="0">
              <a:buNone/>
            </a:pPr>
            <a:r>
              <a:rPr lang="en-IN" b="1" dirty="0">
                <a:latin typeface="Times New Roman" panose="02020603050405020304" pitchFamily="18" charset="0"/>
                <a:cs typeface="Times New Roman" panose="02020603050405020304" pitchFamily="18" charset="0"/>
              </a:rPr>
              <a:t>🔻 Disadvantages</a:t>
            </a:r>
          </a:p>
          <a:p>
            <a:pPr lvl="0"/>
            <a:r>
              <a:rPr lang="en-IN" dirty="0">
                <a:latin typeface="Times New Roman" panose="02020603050405020304" pitchFamily="18" charset="0"/>
                <a:cs typeface="Times New Roman" panose="02020603050405020304" pitchFamily="18" charset="0"/>
              </a:rPr>
              <a:t>Generalized, not patient-specific </a:t>
            </a:r>
          </a:p>
          <a:p>
            <a:pPr lvl="0"/>
            <a:r>
              <a:rPr lang="en-IN" dirty="0">
                <a:latin typeface="Times New Roman" panose="02020603050405020304" pitchFamily="18" charset="0"/>
                <a:cs typeface="Times New Roman" panose="02020603050405020304" pitchFamily="18" charset="0"/>
              </a:rPr>
              <a:t>Time-consuming manual review –</a:t>
            </a:r>
          </a:p>
          <a:p>
            <a:pPr lvl="0"/>
            <a:r>
              <a:rPr lang="en-IN" dirty="0">
                <a:latin typeface="Times New Roman" panose="02020603050405020304" pitchFamily="18" charset="0"/>
                <a:cs typeface="Times New Roman" panose="02020603050405020304" pitchFamily="18" charset="0"/>
              </a:rPr>
              <a:t>Limited use of unstructured text </a:t>
            </a:r>
          </a:p>
          <a:p>
            <a:pPr lvl="0"/>
            <a:r>
              <a:rPr lang="en-IN" dirty="0">
                <a:latin typeface="Times New Roman" panose="02020603050405020304" pitchFamily="18" charset="0"/>
                <a:cs typeface="Times New Roman" panose="02020603050405020304" pitchFamily="18" charset="0"/>
              </a:rPr>
              <a:t>No outcome prediction</a:t>
            </a:r>
          </a:p>
        </p:txBody>
      </p:sp>
    </p:spTree>
    <p:extLst>
      <p:ext uri="{BB962C8B-B14F-4D97-AF65-F5344CB8AC3E}">
        <p14:creationId xmlns:p14="http://schemas.microsoft.com/office/powerpoint/2010/main" val="2448581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766" y="904622"/>
            <a:ext cx="10512862" cy="1325563"/>
          </a:xfrm>
        </p:spPr>
        <p:txBody>
          <a:bodyPr/>
          <a:lstStyle/>
          <a:p>
            <a:pPr>
              <a:defRPr sz="4000" b="1">
                <a:solidFill>
                  <a:srgbClr val="003366"/>
                </a:solidFill>
              </a:defRPr>
            </a:pPr>
            <a:r>
              <a:rPr dirty="0"/>
              <a:t>Proposed Solution / Methodology</a:t>
            </a:r>
          </a:p>
        </p:txBody>
      </p:sp>
      <p:sp>
        <p:nvSpPr>
          <p:cNvPr id="3" name="Content Placeholder 2"/>
          <p:cNvSpPr>
            <a:spLocks noGrp="1"/>
          </p:cNvSpPr>
          <p:nvPr>
            <p:ph idx="1"/>
          </p:nvPr>
        </p:nvSpPr>
        <p:spPr>
          <a:xfrm>
            <a:off x="837982" y="2170940"/>
            <a:ext cx="10512862" cy="4351338"/>
          </a:xfrm>
        </p:spPr>
        <p:txBody>
          <a:bodyPr>
            <a:normAutofit fontScale="93000"/>
          </a:bodyPr>
          <a:lstStyle/>
          <a:p>
            <a:pPr algn="l">
              <a:buNone/>
            </a:pPr>
            <a:r>
              <a:rPr lang="en-US" sz="2400" b="1" dirty="0"/>
              <a:t>Proposed Solution</a:t>
            </a:r>
          </a:p>
          <a:p>
            <a:r>
              <a:rPr lang="en-US" sz="2400" dirty="0"/>
              <a:t>Develop a Clinical NLP-based system to extract medical information and recommend personalized treatment.</a:t>
            </a:r>
          </a:p>
          <a:p>
            <a:r>
              <a:rPr lang="en-US" sz="2400" dirty="0"/>
              <a:t>Analyze clinical notes using NLP techniques, extract diseases, symptoms and medications, then generate treatment recommendations and predict outcomes.</a:t>
            </a:r>
          </a:p>
          <a:p>
            <a:pPr algn="l">
              <a:buNone/>
            </a:pPr>
            <a:r>
              <a:rPr lang="en-US" sz="2400" b="1" dirty="0"/>
              <a:t>Methodology</a:t>
            </a:r>
          </a:p>
          <a:p>
            <a:r>
              <a:rPr lang="en-US" sz="2400" dirty="0"/>
              <a:t>Collect and preprocess patient healthcare data.</a:t>
            </a:r>
          </a:p>
          <a:p>
            <a:r>
              <a:rPr lang="en-US" sz="2400" dirty="0"/>
              <a:t>Apply Clinical NLP to extract medical concepts from clinical text.</a:t>
            </a:r>
          </a:p>
          <a:p>
            <a:r>
              <a:rPr lang="en-US" sz="2400" dirty="0"/>
              <a:t>Generate personalized treatment recommendations and predict patient outcomes.</a:t>
            </a:r>
            <a:endParaRPr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7981" y="1229917"/>
            <a:ext cx="10512862" cy="1325563"/>
          </a:xfrm>
        </p:spPr>
        <p:txBody>
          <a:bodyPr/>
          <a:lstStyle/>
          <a:p>
            <a:pPr>
              <a:defRPr sz="4000" b="1">
                <a:solidFill>
                  <a:srgbClr val="003366"/>
                </a:solidFill>
              </a:defRPr>
            </a:pPr>
            <a:r>
              <a:rPr dirty="0"/>
              <a:t>System Design</a:t>
            </a:r>
          </a:p>
        </p:txBody>
      </p:sp>
      <p:sp>
        <p:nvSpPr>
          <p:cNvPr id="3" name="Content Placeholder 2"/>
          <p:cNvSpPr>
            <a:spLocks noGrp="1"/>
          </p:cNvSpPr>
          <p:nvPr>
            <p:ph idx="1"/>
          </p:nvPr>
        </p:nvSpPr>
        <p:spPr>
          <a:xfrm>
            <a:off x="1295064" y="2450000"/>
            <a:ext cx="9598696" cy="850000"/>
          </a:xfrm>
        </p:spPr>
        <p:txBody>
          <a:bodyPr>
            <a:normAutofit/>
          </a:bodyPr>
          <a:lstStyle/>
          <a:p>
            <a:pPr algn="l"/>
            <a:r>
              <a:rPr lang="en-US" sz="2000" dirty="0"/>
              <a:t>The system is organized into four integrated layers that take raw patient data through to personalized, decision-ready insights:</a:t>
            </a:r>
          </a:p>
        </p:txBody>
      </p:sp>
      <p:sp>
        <p:nvSpPr>
          <p:cNvPr id="10" name="Box1"/>
          <p:cNvSpPr/>
          <p:nvPr/>
        </p:nvSpPr>
        <p:spPr>
          <a:xfrm>
            <a:off x="1544412" y="3550000"/>
            <a:ext cx="1900000" cy="1050000"/>
          </a:xfrm>
          <a:prstGeom prst="roundRect">
            <a:avLst/>
          </a:prstGeom>
          <a:solidFill>
            <a:srgbClr val="065A82"/>
          </a:solidFill>
          <a:ln>
            <a:noFill/>
          </a:ln>
        </p:spPr>
        <p:txBody>
          <a:bodyPr wrap="square" anchor="ctr">
            <a:normAutofit/>
          </a:bodyPr>
          <a:lstStyle/>
          <a:p>
            <a:pPr algn="ctr"/>
            <a:r>
              <a:rPr lang="en-US" sz="1400" b="1" dirty="0">
                <a:solidFill>
                  <a:srgbClr val="FFFFFF"/>
                </a:solidFill>
              </a:rPr>
              <a:t>Patient Data Layer</a:t>
            </a:r>
          </a:p>
        </p:txBody>
      </p:sp>
      <p:sp>
        <p:nvSpPr>
          <p:cNvPr id="11" name="Arrow1"/>
          <p:cNvSpPr/>
          <p:nvPr/>
        </p:nvSpPr>
        <p:spPr>
          <a:xfrm>
            <a:off x="3444412" y="3925000"/>
            <a:ext cx="500000" cy="300000"/>
          </a:xfrm>
          <a:prstGeom prst="rightArrow">
            <a:avLst/>
          </a:prstGeom>
          <a:solidFill>
            <a:srgbClr val="1C7293"/>
          </a:solidFill>
          <a:ln>
            <a:noFill/>
          </a:ln>
        </p:spPr>
        <p:txBody>
          <a:bodyPr/>
          <a:lstStyle/>
          <a:p>
            <a:endParaRPr lang="en-US"/>
          </a:p>
        </p:txBody>
      </p:sp>
      <p:sp>
        <p:nvSpPr>
          <p:cNvPr id="12" name="Box2"/>
          <p:cNvSpPr/>
          <p:nvPr/>
        </p:nvSpPr>
        <p:spPr>
          <a:xfrm>
            <a:off x="3944412" y="3550000"/>
            <a:ext cx="1900000" cy="1050000"/>
          </a:xfrm>
          <a:prstGeom prst="roundRect">
            <a:avLst/>
          </a:prstGeom>
          <a:solidFill>
            <a:srgbClr val="1C7293"/>
          </a:solidFill>
          <a:ln>
            <a:noFill/>
          </a:ln>
        </p:spPr>
        <p:txBody>
          <a:bodyPr wrap="square" anchor="ctr">
            <a:normAutofit/>
          </a:bodyPr>
          <a:lstStyle/>
          <a:p>
            <a:pPr algn="ctr"/>
            <a:r>
              <a:rPr lang="en-US" sz="1400" b="1" dirty="0">
                <a:solidFill>
                  <a:srgbClr val="FFFFFF"/>
                </a:solidFill>
              </a:rPr>
              <a:t>NLP Processing Layer</a:t>
            </a:r>
          </a:p>
        </p:txBody>
      </p:sp>
      <p:sp>
        <p:nvSpPr>
          <p:cNvPr id="13" name="Arrow2"/>
          <p:cNvSpPr/>
          <p:nvPr/>
        </p:nvSpPr>
        <p:spPr>
          <a:xfrm>
            <a:off x="5844412" y="3925000"/>
            <a:ext cx="500000" cy="300000"/>
          </a:xfrm>
          <a:prstGeom prst="rightArrow">
            <a:avLst/>
          </a:prstGeom>
          <a:solidFill>
            <a:srgbClr val="21295C"/>
          </a:solidFill>
          <a:ln>
            <a:noFill/>
          </a:ln>
        </p:spPr>
        <p:txBody>
          <a:bodyPr/>
          <a:lstStyle/>
          <a:p>
            <a:endParaRPr lang="en-US"/>
          </a:p>
        </p:txBody>
      </p:sp>
      <p:sp>
        <p:nvSpPr>
          <p:cNvPr id="14" name="Box3"/>
          <p:cNvSpPr/>
          <p:nvPr/>
        </p:nvSpPr>
        <p:spPr>
          <a:xfrm>
            <a:off x="6344412" y="3550000"/>
            <a:ext cx="1900000" cy="1050000"/>
          </a:xfrm>
          <a:prstGeom prst="roundRect">
            <a:avLst/>
          </a:prstGeom>
          <a:solidFill>
            <a:srgbClr val="21295C"/>
          </a:solidFill>
          <a:ln>
            <a:noFill/>
          </a:ln>
        </p:spPr>
        <p:txBody>
          <a:bodyPr wrap="square" anchor="ctr">
            <a:normAutofit/>
          </a:bodyPr>
          <a:lstStyle/>
          <a:p>
            <a:pPr algn="ctr"/>
            <a:r>
              <a:rPr lang="en-US" sz="1400" b="1" dirty="0">
                <a:solidFill>
                  <a:srgbClr val="FFFFFF"/>
                </a:solidFill>
              </a:rPr>
              <a:t>Recommendation Layer</a:t>
            </a:r>
          </a:p>
        </p:txBody>
      </p:sp>
      <p:sp>
        <p:nvSpPr>
          <p:cNvPr id="15" name="Arrow3"/>
          <p:cNvSpPr/>
          <p:nvPr/>
        </p:nvSpPr>
        <p:spPr>
          <a:xfrm>
            <a:off x="8244412" y="3925000"/>
            <a:ext cx="500000" cy="300000"/>
          </a:xfrm>
          <a:prstGeom prst="rightArrow">
            <a:avLst/>
          </a:prstGeom>
          <a:solidFill>
            <a:srgbClr val="065A82"/>
          </a:solidFill>
          <a:ln>
            <a:noFill/>
          </a:ln>
        </p:spPr>
        <p:txBody>
          <a:bodyPr/>
          <a:lstStyle/>
          <a:p>
            <a:endParaRPr lang="en-US"/>
          </a:p>
        </p:txBody>
      </p:sp>
      <p:sp>
        <p:nvSpPr>
          <p:cNvPr id="16" name="Box4"/>
          <p:cNvSpPr/>
          <p:nvPr/>
        </p:nvSpPr>
        <p:spPr>
          <a:xfrm>
            <a:off x="8744412" y="3550000"/>
            <a:ext cx="1900000" cy="1050000"/>
          </a:xfrm>
          <a:prstGeom prst="roundRect">
            <a:avLst/>
          </a:prstGeom>
          <a:solidFill>
            <a:srgbClr val="003366"/>
          </a:solidFill>
          <a:ln>
            <a:noFill/>
          </a:ln>
        </p:spPr>
        <p:txBody>
          <a:bodyPr wrap="square" anchor="ctr">
            <a:normAutofit/>
          </a:bodyPr>
          <a:lstStyle/>
          <a:p>
            <a:pPr algn="ctr"/>
            <a:r>
              <a:rPr lang="en-US" sz="1400" b="1" dirty="0">
                <a:solidFill>
                  <a:srgbClr val="FFFFFF"/>
                </a:solidFill>
              </a:rPr>
              <a:t>Outcome Prediction Layer</a:t>
            </a:r>
          </a:p>
        </p:txBody>
      </p:sp>
      <p:sp>
        <p:nvSpPr>
          <p:cNvPr id="20" name="Cap1"/>
          <p:cNvSpPr txBox="1"/>
          <p:nvPr/>
        </p:nvSpPr>
        <p:spPr>
          <a:xfrm>
            <a:off x="1444412" y="4700000"/>
            <a:ext cx="2100000" cy="900000"/>
          </a:xfrm>
          <a:prstGeom prst="rect">
            <a:avLst/>
          </a:prstGeom>
          <a:noFill/>
        </p:spPr>
        <p:txBody>
          <a:bodyPr wrap="square">
            <a:normAutofit/>
          </a:bodyPr>
          <a:lstStyle/>
          <a:p>
            <a:pPr algn="ctr"/>
            <a:r>
              <a:rPr lang="en-US" sz="1200" dirty="0">
                <a:solidFill>
                  <a:srgbClr val="333333"/>
                </a:solidFill>
              </a:rPr>
              <a:t>Raw patient records collected from healthcare dataset</a:t>
            </a:r>
          </a:p>
        </p:txBody>
      </p:sp>
      <p:sp>
        <p:nvSpPr>
          <p:cNvPr id="21" name="Cap2"/>
          <p:cNvSpPr txBox="1"/>
          <p:nvPr/>
        </p:nvSpPr>
        <p:spPr>
          <a:xfrm>
            <a:off x="3844412" y="4700000"/>
            <a:ext cx="2100000" cy="900000"/>
          </a:xfrm>
          <a:prstGeom prst="rect">
            <a:avLst/>
          </a:prstGeom>
          <a:noFill/>
        </p:spPr>
        <p:txBody>
          <a:bodyPr wrap="square">
            <a:normAutofit/>
          </a:bodyPr>
          <a:lstStyle/>
          <a:p>
            <a:pPr algn="ctr"/>
            <a:r>
              <a:rPr lang="en-US" sz="1200" dirty="0">
                <a:solidFill>
                  <a:srgbClr val="333333"/>
                </a:solidFill>
              </a:rPr>
              <a:t>Cleaning &amp; structuring with Pandas and Clinical NLP tools</a:t>
            </a:r>
          </a:p>
        </p:txBody>
      </p:sp>
      <p:sp>
        <p:nvSpPr>
          <p:cNvPr id="22" name="Cap3"/>
          <p:cNvSpPr txBox="1"/>
          <p:nvPr/>
        </p:nvSpPr>
        <p:spPr>
          <a:xfrm>
            <a:off x="6244412" y="4700000"/>
            <a:ext cx="2100000" cy="900000"/>
          </a:xfrm>
          <a:prstGeom prst="rect">
            <a:avLst/>
          </a:prstGeom>
          <a:noFill/>
        </p:spPr>
        <p:txBody>
          <a:bodyPr wrap="square">
            <a:normAutofit/>
          </a:bodyPr>
          <a:lstStyle/>
          <a:p>
            <a:pPr algn="ctr"/>
            <a:r>
              <a:rPr lang="en-US" sz="1200" dirty="0">
                <a:solidFill>
                  <a:srgbClr val="333333"/>
                </a:solidFill>
              </a:rPr>
              <a:t>Personalized treatment recommendations generated</a:t>
            </a:r>
          </a:p>
        </p:txBody>
      </p:sp>
      <p:sp>
        <p:nvSpPr>
          <p:cNvPr id="23" name="Cap4"/>
          <p:cNvSpPr txBox="1"/>
          <p:nvPr/>
        </p:nvSpPr>
        <p:spPr>
          <a:xfrm>
            <a:off x="8644412" y="4700000"/>
            <a:ext cx="2100000" cy="900000"/>
          </a:xfrm>
          <a:prstGeom prst="rect">
            <a:avLst/>
          </a:prstGeom>
          <a:noFill/>
        </p:spPr>
        <p:txBody>
          <a:bodyPr wrap="square">
            <a:normAutofit/>
          </a:bodyPr>
          <a:lstStyle/>
          <a:p>
            <a:pPr algn="ctr"/>
            <a:r>
              <a:rPr lang="en-US" sz="1200" dirty="0">
                <a:solidFill>
                  <a:srgbClr val="333333"/>
                </a:solidFill>
              </a:rPr>
              <a:t>Recovery status and risk level predicted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3350" y="858902"/>
            <a:ext cx="10512862" cy="1325563"/>
          </a:xfrm>
        </p:spPr>
        <p:txBody>
          <a:bodyPr/>
          <a:lstStyle/>
          <a:p>
            <a:pPr>
              <a:defRPr sz="4000" b="1">
                <a:solidFill>
                  <a:srgbClr val="003366"/>
                </a:solidFill>
              </a:defRPr>
            </a:pPr>
            <a:r>
              <a:rPr dirty="0"/>
              <a:t>Implementation</a:t>
            </a:r>
          </a:p>
        </p:txBody>
      </p:sp>
      <p:sp>
        <p:nvSpPr>
          <p:cNvPr id="3" name="Content Placeholder 2"/>
          <p:cNvSpPr>
            <a:spLocks noGrp="1"/>
          </p:cNvSpPr>
          <p:nvPr>
            <p:ph idx="1"/>
          </p:nvPr>
        </p:nvSpPr>
        <p:spPr>
          <a:xfrm>
            <a:off x="837982" y="2026793"/>
            <a:ext cx="10512862" cy="4351338"/>
          </a:xfrm>
        </p:spPr>
        <p:txBody>
          <a:bodyPr>
            <a:normAutofit fontScale="95000"/>
          </a:bodyPr>
          <a:lstStyle/>
          <a:p>
            <a:r>
              <a:rPr lang="en-US" sz="2200" dirty="0"/>
              <a:t>Dataset Loading: Import the patient healthcare dataset using Pandas.</a:t>
            </a:r>
          </a:p>
          <a:p>
            <a:r>
              <a:rPr lang="en-US" sz="2200" dirty="0"/>
              <a:t>Data Cleaning: Remove missing values, duplicates, and inconsistent records.</a:t>
            </a:r>
          </a:p>
          <a:p>
            <a:r>
              <a:rPr lang="en-US" sz="2200" dirty="0"/>
              <a:t>Clinical NLP Processing: Apply tokenization and NER to clinical notes.</a:t>
            </a:r>
          </a:p>
          <a:p>
            <a:r>
              <a:rPr lang="en-US" sz="2200" dirty="0"/>
              <a:t>Concept Extraction: Identify diseases, symptoms, medications, and severity levels.</a:t>
            </a:r>
          </a:p>
          <a:p>
            <a:r>
              <a:rPr lang="en-US" sz="2200" dirty="0"/>
              <a:t>Recommendation Generation: Generate personalized treatment plans and predict outcomes.</a:t>
            </a:r>
          </a:p>
          <a:p>
            <a:pPr algn="l">
              <a:buNone/>
            </a:pPr>
            <a:r>
              <a:rPr lang="en-US" sz="2200" b="1" dirty="0"/>
              <a:t>Python Libraries Used:</a:t>
            </a:r>
          </a:p>
          <a:p>
            <a:r>
              <a:rPr lang="en-US" sz="2200" b="1" dirty="0"/>
              <a:t>Pandas</a:t>
            </a:r>
            <a:r>
              <a:rPr lang="en-US" sz="2200" dirty="0"/>
              <a:t> – Data loading and preprocessing</a:t>
            </a:r>
          </a:p>
          <a:p>
            <a:r>
              <a:rPr lang="en-US" sz="2200" b="1" dirty="0"/>
              <a:t>NumPy</a:t>
            </a:r>
            <a:r>
              <a:rPr lang="en-US" sz="2200" dirty="0"/>
              <a:t> – Numerical computations</a:t>
            </a:r>
          </a:p>
          <a:p>
            <a:r>
              <a:rPr lang="en-US" sz="2200" b="1" dirty="0"/>
              <a:t>spaCy / NLTK</a:t>
            </a:r>
            <a:r>
              <a:rPr lang="en-US" sz="2200" dirty="0"/>
              <a:t> – Clinical NLP and text processing</a:t>
            </a:r>
          </a:p>
          <a:p>
            <a:r>
              <a:rPr lang="en-US" sz="2200" b="1" dirty="0"/>
              <a:t>Scikit-learn</a:t>
            </a:r>
            <a:r>
              <a:rPr lang="en-US" sz="2200" dirty="0"/>
              <a:t> – Recommendation and outcome prediction</a:t>
            </a:r>
            <a:endParaRPr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382" y="849758"/>
            <a:ext cx="10512862" cy="1325563"/>
          </a:xfrm>
        </p:spPr>
        <p:txBody>
          <a:bodyPr/>
          <a:lstStyle/>
          <a:p>
            <a:pPr>
              <a:defRPr sz="3600" b="1">
                <a:solidFill>
                  <a:srgbClr val="003366"/>
                </a:solidFill>
              </a:defRPr>
            </a:pPr>
            <a:r>
              <a:rPr dirty="0"/>
              <a:t>Module 1: Patient Data Integration</a:t>
            </a:r>
          </a:p>
        </p:txBody>
      </p:sp>
      <p:sp>
        <p:nvSpPr>
          <p:cNvPr id="3" name="Content Placeholder 2"/>
          <p:cNvSpPr>
            <a:spLocks noGrp="1"/>
          </p:cNvSpPr>
          <p:nvPr>
            <p:ph idx="1"/>
          </p:nvPr>
        </p:nvSpPr>
        <p:spPr>
          <a:xfrm>
            <a:off x="920278" y="2134364"/>
            <a:ext cx="10512862" cy="4351338"/>
          </a:xfrm>
        </p:spPr>
        <p:txBody>
          <a:bodyPr>
            <a:normAutofit fontScale="95000"/>
          </a:bodyPr>
          <a:lstStyle/>
          <a:p>
            <a:pPr algn="l">
              <a:buNone/>
            </a:pPr>
            <a:r>
              <a:rPr lang="en-US" sz="2200" dirty="0"/>
              <a:t>This module prepares patient healthcare data for analysis. Patient information such as age, gender, disease, symptoms, and medical history is collected and checked for missing values, duplicate entries, and inconsistent records. Data cleaning and preprocessing produce a structured, unified patient profile ready for Clinical NLP processing.</a:t>
            </a:r>
          </a:p>
          <a:p>
            <a:pPr algn="l">
              <a:buNone/>
            </a:pPr>
            <a:r>
              <a:rPr lang="en-US" sz="2200" b="1" dirty="0"/>
              <a:t>Main Outputs:</a:t>
            </a:r>
          </a:p>
          <a:p>
            <a:r>
              <a:rPr lang="en-US" sz="2200" dirty="0"/>
              <a:t>Cleaned, structured patient profiles</a:t>
            </a:r>
          </a:p>
          <a:p>
            <a:r>
              <a:rPr lang="en-US" sz="2200" dirty="0"/>
              <a:t>Consistent, duplicate-free patient records</a:t>
            </a:r>
          </a:p>
          <a:p>
            <a:r>
              <a:rPr lang="en-US" sz="2200" dirty="0"/>
              <a:t>Clean patient data ready for NLP and recommendation processing</a:t>
            </a:r>
            <a:endParaRPr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3934" y="1027907"/>
            <a:ext cx="10512862" cy="1325563"/>
          </a:xfrm>
        </p:spPr>
        <p:txBody>
          <a:bodyPr/>
          <a:lstStyle/>
          <a:p>
            <a:pPr>
              <a:defRPr sz="3600" b="1">
                <a:solidFill>
                  <a:srgbClr val="003366"/>
                </a:solidFill>
              </a:defRPr>
            </a:pPr>
            <a:r>
              <a:rPr dirty="0"/>
              <a:t>Module 2: Medical Concept Extraction</a:t>
            </a:r>
          </a:p>
        </p:txBody>
      </p:sp>
      <p:sp>
        <p:nvSpPr>
          <p:cNvPr id="3" name="Content Placeholder 2"/>
          <p:cNvSpPr>
            <a:spLocks noGrp="1"/>
          </p:cNvSpPr>
          <p:nvPr>
            <p:ph idx="1"/>
          </p:nvPr>
        </p:nvSpPr>
        <p:spPr>
          <a:xfrm>
            <a:off x="837981" y="2303369"/>
            <a:ext cx="10512862" cy="4351338"/>
          </a:xfrm>
        </p:spPr>
        <p:txBody>
          <a:bodyPr>
            <a:normAutofit fontScale="95000"/>
          </a:bodyPr>
          <a:lstStyle/>
          <a:p>
            <a:pPr algn="l">
              <a:buNone/>
            </a:pPr>
            <a:r>
              <a:rPr lang="en-US" sz="2200" dirty="0"/>
              <a:t>This module analyzes clinical notes and medical records using Clinical NLP techniques. Important medical concepts such as diseases, symptoms, medications, and comorbidities are extracted, and severity levels are identified. Unstructured medical text is converted into structured information for downstream processing.</a:t>
            </a:r>
          </a:p>
          <a:p>
            <a:pPr algn="l">
              <a:buNone/>
            </a:pPr>
            <a:r>
              <a:rPr lang="en-US" sz="2200" b="1" dirty="0"/>
              <a:t>Main Outputs:</a:t>
            </a:r>
          </a:p>
          <a:p>
            <a:r>
              <a:rPr lang="en-US" sz="2200" dirty="0"/>
              <a:t>Structured medical concepts (diseases, symptoms, medications)</a:t>
            </a:r>
          </a:p>
          <a:p>
            <a:r>
              <a:rPr lang="en-US" sz="2200" dirty="0"/>
              <a:t>Identified severity levels and patient health conditions</a:t>
            </a:r>
          </a:p>
          <a:p>
            <a:r>
              <a:rPr lang="en-US" sz="2200" dirty="0"/>
              <a:t>Structured information ready for treatment recommendation</a:t>
            </a:r>
            <a:endParaRPr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966" y="932054"/>
            <a:ext cx="10512862" cy="1325563"/>
          </a:xfrm>
        </p:spPr>
        <p:txBody>
          <a:bodyPr/>
          <a:lstStyle/>
          <a:p>
            <a:pPr>
              <a:defRPr sz="3600" b="1">
                <a:solidFill>
                  <a:srgbClr val="003366"/>
                </a:solidFill>
              </a:defRPr>
            </a:pPr>
            <a:r>
              <a:rPr dirty="0"/>
              <a:t>Module 3: Treatment Recommendation &amp; Outcome Prediction</a:t>
            </a:r>
          </a:p>
        </p:txBody>
      </p:sp>
      <p:sp>
        <p:nvSpPr>
          <p:cNvPr id="3" name="Content Placeholder 2"/>
          <p:cNvSpPr>
            <a:spLocks noGrp="1"/>
          </p:cNvSpPr>
          <p:nvPr>
            <p:ph idx="1"/>
          </p:nvPr>
        </p:nvSpPr>
        <p:spPr>
          <a:xfrm>
            <a:off x="837981" y="2257617"/>
            <a:ext cx="10512862" cy="4351338"/>
          </a:xfrm>
        </p:spPr>
        <p:txBody>
          <a:bodyPr>
            <a:normAutofit fontScale="95000"/>
          </a:bodyPr>
          <a:lstStyle/>
          <a:p>
            <a:pPr algn="l">
              <a:buNone/>
            </a:pPr>
            <a:r>
              <a:rPr lang="en-US" sz="2200" dirty="0"/>
              <a:t>This module analyzes extracted patient information and medical concepts to generate personalized treatment recommendations based on the patient’s condition. It suggests suitable treatments, medications, and follow-up requirements, and predicts patient outcomes, recovery status, and recovery duration.</a:t>
            </a:r>
          </a:p>
          <a:p>
            <a:pPr algn="l">
              <a:buNone/>
            </a:pPr>
            <a:r>
              <a:rPr lang="en-US" sz="2200" b="1" dirty="0"/>
              <a:t>Main Outputs:</a:t>
            </a:r>
          </a:p>
          <a:p>
            <a:r>
              <a:rPr lang="en-US" sz="2200" dirty="0"/>
              <a:t>Personalized treatment and medication recommendations</a:t>
            </a:r>
          </a:p>
          <a:p>
            <a:r>
              <a:rPr lang="en-US" sz="2200" dirty="0"/>
              <a:t>Predicted patient outcomes and recovery status</a:t>
            </a:r>
          </a:p>
          <a:p>
            <a:r>
              <a:rPr lang="en-US" sz="2200" dirty="0"/>
              <a:t>Risk-level assessment to support clinical decision-making</a:t>
            </a:r>
            <a:endParaRPr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1094" y="785750"/>
            <a:ext cx="10512862" cy="1325563"/>
          </a:xfrm>
        </p:spPr>
        <p:txBody>
          <a:bodyPr/>
          <a:lstStyle/>
          <a:p>
            <a:pPr>
              <a:defRPr sz="4000" b="1">
                <a:solidFill>
                  <a:srgbClr val="003366"/>
                </a:solidFill>
              </a:defRPr>
            </a:pPr>
            <a:r>
              <a:rPr dirty="0"/>
              <a:t>Results &amp; Discussion</a:t>
            </a:r>
          </a:p>
        </p:txBody>
      </p:sp>
      <p:sp>
        <p:nvSpPr>
          <p:cNvPr id="3" name="Content Placeholder 2"/>
          <p:cNvSpPr>
            <a:spLocks noGrp="1"/>
          </p:cNvSpPr>
          <p:nvPr>
            <p:ph idx="1"/>
          </p:nvPr>
        </p:nvSpPr>
        <p:spPr>
          <a:xfrm>
            <a:off x="837981" y="2191385"/>
            <a:ext cx="10512862" cy="4351338"/>
          </a:xfrm>
        </p:spPr>
        <p:txBody>
          <a:bodyPr>
            <a:normAutofit/>
          </a:bodyPr>
          <a:lstStyle/>
          <a:p>
            <a:pPr algn="just"/>
            <a:r>
              <a:rPr lang="en-US" sz="2600" dirty="0"/>
              <a:t>The developed system successfully extracts diseases, symptoms, and medications from clinical text using Clinical NLP techniques.</a:t>
            </a:r>
          </a:p>
          <a:p>
            <a:pPr algn="just"/>
            <a:r>
              <a:rPr lang="en-US" sz="2600" dirty="0"/>
              <a:t>It generates personalized treatment recommendations and predicts patient outcomes and recovery status. </a:t>
            </a:r>
          </a:p>
          <a:p>
            <a:pPr algn="just"/>
            <a:r>
              <a:rPr lang="en-US" sz="2600" dirty="0"/>
              <a:t>Overall, the system provides faster, more informed, and patient-specific healthcare decision support compared to generalized existing systems.</a:t>
            </a:r>
            <a:endParaRPr sz="2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1133" y="955357"/>
            <a:ext cx="10512862" cy="1325563"/>
          </a:xfrm>
        </p:spPr>
        <p:txBody>
          <a:bodyPr/>
          <a:lstStyle/>
          <a:p>
            <a:pPr>
              <a:defRPr sz="4000" b="1">
                <a:solidFill>
                  <a:srgbClr val="003366"/>
                </a:solidFill>
              </a:defRPr>
            </a:pPr>
            <a:r>
              <a:rPr dirty="0"/>
              <a:t>Future Enhancements</a:t>
            </a:r>
          </a:p>
        </p:txBody>
      </p:sp>
      <p:sp>
        <p:nvSpPr>
          <p:cNvPr id="3" name="Content Placeholder 2"/>
          <p:cNvSpPr>
            <a:spLocks noGrp="1"/>
          </p:cNvSpPr>
          <p:nvPr>
            <p:ph idx="1"/>
          </p:nvPr>
        </p:nvSpPr>
        <p:spPr>
          <a:xfrm>
            <a:off x="837981" y="2154809"/>
            <a:ext cx="10512862" cy="4351338"/>
          </a:xfrm>
        </p:spPr>
        <p:txBody>
          <a:bodyPr>
            <a:normAutofit/>
          </a:bodyPr>
          <a:lstStyle/>
          <a:p>
            <a:pPr algn="just"/>
            <a:r>
              <a:rPr lang="en-IN" sz="2600" dirty="0"/>
              <a:t>Future development can include real-time Electronic Health Record (EHR) integration and advanced deep learning models to improve prediction accuracy. </a:t>
            </a:r>
          </a:p>
          <a:p>
            <a:pPr algn="just"/>
            <a:r>
              <a:rPr lang="en-IN" sz="2600" dirty="0"/>
              <a:t>The system can be extended to support multi-disease treatment recommendations, integration with hospital management systems, explainable AI, and real-time patient monitoring and alerts.</a:t>
            </a:r>
            <a:endParaRPr sz="2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102" y="1027907"/>
            <a:ext cx="10512862" cy="1325563"/>
          </a:xfrm>
        </p:spPr>
        <p:txBody>
          <a:bodyPr/>
          <a:lstStyle/>
          <a:p>
            <a:pPr>
              <a:defRPr sz="4000" b="1">
                <a:solidFill>
                  <a:srgbClr val="003366"/>
                </a:solidFill>
              </a:defRPr>
            </a:pPr>
            <a:r>
              <a:rPr dirty="0"/>
              <a:t>Conclusion</a:t>
            </a:r>
          </a:p>
        </p:txBody>
      </p:sp>
      <p:sp>
        <p:nvSpPr>
          <p:cNvPr id="3" name="Content Placeholder 2"/>
          <p:cNvSpPr>
            <a:spLocks noGrp="1"/>
          </p:cNvSpPr>
          <p:nvPr>
            <p:ph idx="1"/>
          </p:nvPr>
        </p:nvSpPr>
        <p:spPr>
          <a:xfrm>
            <a:off x="764830" y="2328862"/>
            <a:ext cx="10512862" cy="4351338"/>
          </a:xfrm>
        </p:spPr>
        <p:txBody>
          <a:bodyPr>
            <a:normAutofit/>
          </a:bodyPr>
          <a:lstStyle/>
          <a:p>
            <a:pPr algn="just"/>
            <a:r>
              <a:rPr lang="en-IN" sz="2600" dirty="0"/>
              <a:t>The proposed system successfully applies Clinical NLP to extract diseases, symptoms, and treatment requirements from clinical data, providing personalized healthcare recommendations. </a:t>
            </a:r>
          </a:p>
          <a:p>
            <a:pPr algn="just"/>
            <a:r>
              <a:rPr lang="en-IN" sz="2600" dirty="0"/>
              <a:t>Outcome prediction helps estimate recovery status and potential health risks. Overall, the system supports healthcare professionals in making faster, more informed, and patient-specific clinical decisions.</a:t>
            </a:r>
            <a:endParaRPr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9070" y="1023494"/>
            <a:ext cx="10512862" cy="1325563"/>
          </a:xfrm>
        </p:spPr>
        <p:txBody>
          <a:bodyPr/>
          <a:lstStyle/>
          <a:p>
            <a:pPr>
              <a:defRPr sz="4000" b="1">
                <a:solidFill>
                  <a:srgbClr val="003366"/>
                </a:solidFill>
              </a:defRPr>
            </a:pPr>
            <a:r>
              <a:rPr dirty="0"/>
              <a:t>References</a:t>
            </a:r>
          </a:p>
        </p:txBody>
      </p:sp>
      <p:sp>
        <p:nvSpPr>
          <p:cNvPr id="3" name="Content Placeholder 2"/>
          <p:cNvSpPr>
            <a:spLocks noGrp="1"/>
          </p:cNvSpPr>
          <p:nvPr>
            <p:ph idx="1"/>
          </p:nvPr>
        </p:nvSpPr>
        <p:spPr>
          <a:xfrm>
            <a:off x="837982" y="2134364"/>
            <a:ext cx="10512862" cy="4351338"/>
          </a:xfrm>
        </p:spPr>
        <p:txBody>
          <a:bodyPr>
            <a:normAutofit/>
          </a:bodyPr>
          <a:lstStyle/>
          <a:p>
            <a:pPr lvl="0"/>
            <a:r>
              <a:rPr lang="en-IN" sz="2400" dirty="0"/>
              <a:t>S. Lee et al., "Clinical Decision Support Using Pseudo-Notes from Multiple Streams of EHR Data," npj Digital Medicine, 2025.</a:t>
            </a:r>
          </a:p>
          <a:p>
            <a:pPr lvl="0"/>
            <a:r>
              <a:rPr lang="en-IN" sz="2400" dirty="0"/>
              <a:t>A. Sounack et al., "BioClinical ModernBERT: A State-of-the-Art Long-Context Encoder for Biomedical and Clinical NLP," 2025.</a:t>
            </a:r>
          </a:p>
          <a:p>
            <a:pPr lvl="0"/>
            <a:r>
              <a:rPr lang="en-IN" sz="2400" dirty="0"/>
              <a:t>M. Gaber et al., "Evaluating Large Language Model Workflows in Clinical Decision Support," 2025.</a:t>
            </a:r>
          </a:p>
          <a:p>
            <a:pPr lvl="0"/>
            <a:r>
              <a:rPr lang="en-IN" sz="2400" dirty="0"/>
              <a:t>C. Villena et al., "NLP Modeling Recommendations for Restricted Data Availability in Clinical Settings," 2025.</a:t>
            </a:r>
          </a:p>
          <a:p>
            <a:pPr lvl="0"/>
            <a:r>
              <a:rPr lang="en-IN" sz="2400" dirty="0"/>
              <a:t>"MCD-EARS: A Multimodal Cross-Domain Expertise-Aware Recommender System for Healthcare Applications," Information Sciences,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195</TotalTime>
  <Words>1193</Words>
  <Application>Microsoft Office PowerPoint</Application>
  <PresentationFormat>Custom</PresentationFormat>
  <Paragraphs>124</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Garamond (Body)</vt:lpstr>
      <vt:lpstr>Times New Roman</vt:lpstr>
      <vt:lpstr>Office Theme</vt:lpstr>
      <vt:lpstr>Personalized Healthcare Recommendation through Clinical NLP</vt:lpstr>
      <vt:lpstr>Introduction</vt:lpstr>
      <vt:lpstr>Problem Statement</vt:lpstr>
      <vt:lpstr>Objectives</vt:lpstr>
      <vt:lpstr>Literature Review </vt:lpstr>
      <vt:lpstr>PowerPoint Presentation</vt:lpstr>
      <vt:lpstr>Proposed Solution / Methodology</vt:lpstr>
      <vt:lpstr>System Design</vt:lpstr>
      <vt:lpstr>Implementation</vt:lpstr>
      <vt:lpstr>Module 1: Patient Data Integration</vt:lpstr>
      <vt:lpstr>Module 2: Medical Concept Extraction</vt:lpstr>
      <vt:lpstr>Module 3: Treatment Recommendation &amp; Outcome Prediction</vt:lpstr>
      <vt:lpstr>Results &amp; Discussion</vt:lpstr>
      <vt:lpstr>Future Enhancements</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bujji babu</cp:lastModifiedBy>
  <cp:revision>39</cp:revision>
  <dcterms:created xsi:type="dcterms:W3CDTF">2013-01-27T09:14:00Z</dcterms:created>
  <dcterms:modified xsi:type="dcterms:W3CDTF">2026-09-07T17:21:29Z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3B3BD421BFF14B26979D77832EB9FF13_12</vt:lpwstr>
  </property>
  <property fmtid="{D5CDD505-2E9C-101B-9397-08002B2CF9AE}" pid="3" name="KSOProductBuildVer">
    <vt:lpwstr>1033-12.1.0.28032</vt:lpwstr>
  </property>
</Properties>
</file>